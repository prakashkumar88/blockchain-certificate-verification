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f7d7b4c-129c-9202-af80-b71b3d2626f5}">
          <p14:sldIdLst>
            <p14:sldId id="256"/>
          </p14:sldIdLst>
        </p14:section>
        <p14:section name="Problem and Solution" id="{27c5cd18-5112-0c17-c32d-8018a2fe560b}">
          <p14:sldIdLst>
            <p14:sldId id="257"/>
            <p14:sldId id="258"/>
          </p14:sldIdLst>
        </p14:section>
        <p14:section name="Design" id="{3c0c4f36-01dd-ac53-b7eb-0efcf1bcd51a}">
          <p14:sldIdLst>
            <p14:sldId id="259"/>
            <p14:sldId id="260"/>
          </p14:sldIdLst>
        </p14:section>
        <p14:section name="How It Works" id="{a90e9826-b34c-8bb9-3d5e-b23758c4422a}">
          <p14:sldIdLst>
            <p14:sldId id="261"/>
            <p14:sldId id="262"/>
          </p14:sldIdLst>
        </p14:section>
        <p14:section name="Results" id="{f6e37350-56a7-743f-ebdd-ff42a1a98e69}">
          <p14:sldIdLst>
            <p14:sldId id="263"/>
            <p14:sldId id="264"/>
          </p14:sldIdLst>
        </p14:section>
        <p14:section name="Conclusion" id="{60b388cf-53c9-bd39-3905-c23c9f113c0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Good morning. I am Prakash Kumar, B.Tech Computer Science, IIIT Lucknow. My project is CertiVerify, a blockchain-based smart contract system for secure certificate verification. In the next ten minutes I will explain the problem, how the system works, what I tested, and what is still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Today most certificates are shared as PDF files. Take a simple example: a student sends a degree certificate to an employer. If someone edits the CGPA and saves the file again, the edited PDF looks exactly like the real one.
This creates three problems. First, fake or modified certificates are easy to make and hard to spot. Second, manual verification is slow: the employer has to email or call the university and wait. Third, if the university cancels a certificate later, nobody holding the old PDF can easily find out that it was revoked.
CertiVerify addresses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Our idea is simple. Instead of trusting the PDF itself, we record its digital fingerprint on a blockchain.
The fingerprint is a SHA-256 hash: a 32-byte code calculated from the exact bytes of the PDF. The same file always gives the same fingerprint, but if even one byte changes — like the CGPA — the fingerprint changes completely.
When the university issues a certificate, the smart contract stores this fingerprint, the issuer's wallet address and a revoked flag. The PDF itself and student details are never put on the blockchain, which protects privacy.
Our objectives: only authorized issuers can issue, anyone can verify instantly, any change to the PDF is detected, and revocation status is visible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Here is the architecture. On the left is the user side: the React and TypeScript frontend in the browser, and the MetaMask wallet, which holds the user's private key.
In the middle is the Node.js and Express backend. It handles wallet login using Sign-In with Ethereum, computes the SHA-256 fingerprint of uploaded PDFs, and prepares unsigned transaction data. On the right, MongoDB stores off-chain data such as drafts, sessions and event history, and the Solidity smart contract runs on Anvil, a local Ethereum blockchain, for this demonstration.
The most important design choice is the bottom arrow: the signed transaction goes from the user's wallet directly to the blockchain. The backend only reads the blockchain to simulate and verify. It never holds a private key and never sends transactions. And the blockchain, not MongoDB, is the source of truth for whether a certificate exists or is revoked.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On the left are the technologies. The smart contract is written in Solidity and tested with Foundry, using OpenZeppelin's access-control library for roles. The backend uses Node.js, Express and TypeScript with ethers.js and MongoDB. The frontend is React with TypeScript, Vite and Tailwind.
On the right are the six key features. Users log in by signing a message with their wallet — this is Sign-In with Ethereum, so there is no password. Only wallets given the issuer role on the contract can issue. Anyone can verify a certificate by its ID or by uploading the PDF. SHA-256 detects any change. Only the original issuer can revoke their own certificate, and revocation is permanent — even the admin cannot revoke on their behalf. Finally, an issuer can issue up to 50 certificates in a single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This is how a certificate is issued, in six steps.
One: the issuer connects MetaMask and signs in by signing a message. Two: the issuer uploads the certificate PDF. Three: the backend calculates the SHA-256 fingerprint of the exact file bytes. Four: the backend creates a draft, simulates the contract call to make sure it would succeed, and returns unsigned transaction data.
Steps one to four are only a draft — nothing is on the blockchain yet.
Five: the issuer reviews the certificate ID and fingerprint, and approves the transaction in MetaMask. Six: the smart contract records the certificate. The frontend then sends the transaction hash to the backend, which checks the receipt and the CertificateIssued event before showing success. If the transaction is still pending, the app clearly says pending, not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Verification is public — no login needed. The verifier enters the certificate ID and uploads the PDF. The backend calculates the fingerprint and compares it with the record stored on the blockchain.
There are three main results. VALID: the fingerprint matches and the certificate is not revoked. MODIFIED: the PDF was changed, so the fingerprint does not match — even a one-byte change is caught. REVOKED: the original issuer has cancelled the certificate on-chain. Revocation is permanent and cannot be undone.
So the system always checks two things: is the document unchanged, and is the certificate still active? There are two more states: UNKNOWN when the ID was never issued, and UNAVAILABLE when the blockchain cannot be reached — in that case the app says unavailable rather than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I tested the full system locally. On the left is the live demo flow on the Anvil local blockchain: a certificate was issued and confirmed, the original PDF verified as VALID, a modified copy was detected as MODIFIED, and after the issuer revoked it, verification showed REVOKED. [If you add a screenshot, point to it here.]
On the right are the automated tests, all passing: 51 smart contract tests including fuzz and invariant tests, 97 backend unit tests, 28 backend integration tests that run against a real local blockchain and a real MongoDB, and 105 frontend tests — 281 in total.
To be clear: this is local testing. The project is not deployed on a public blockchain, and it has not had an independent security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Where can this be used? Universities can let anyone verify degrees and marksheets, employers can check certificates during recruitment in seconds, and the same approach works for professional and training certificates.
I want to be honest about the limitations. The current demo runs on Anvil, a local blockchain, not a public network. When Anvil stops, the local chain is reset and the contract must be deployed again. A real production system would also need secure hosting, a process to onboard institutions, monitoring and proper privacy policies.
Future work is to deploy on a public test network, move to secure hosting and a managed database, and onboard institutions. Everything listed at the bottom is already implemented and tested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To conclude: CertiVerify solves the fake-certificate problem using SHA-256 fingerprints to detect any change to a PDF, and a blockchain smart contract to record who issued each certificate and whether it has been revoked. The user's own wallet signs every transaction, so the server never controls anyone's keys.
In one sentence: anyone can check, in seconds, whether a certificate is genuine, unchanged and still valid, without contacting the university.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V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9144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2423160"/>
            <a:ext cx="8046720" cy="8229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V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6692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91456"/>
            <a:ext cx="5486400" cy="228600"/>
          </a:xfrm>
          <a:prstGeom prst="rect">
            <a:avLst/>
          </a:prstGeom>
          <a:noFill/>
          <a:ln/>
        </p:spPr>
        <p:txBody>
          <a:bodyPr wrap="square" lIns="0" tIns="0" rIns="0" bIns="0" rtlCol="0" anchor="ctr"/>
          <a:lstStyle/>
          <a:p>
            <a:pPr indent="0" marL="0">
              <a:buNone/>
            </a:pPr>
            <a:r>
              <a:rPr lang="en-US" sz="1000" dirty="0">
                <a:solidFill>
                  <a:schemeClr val="tx2"/>
                </a:solidFill>
              </a:rPr>
              <a:t>CertiVerify  ·  B.Tech Project  ·  IIIT Lucknow</a:t>
            </a:r>
            <a:endParaRPr lang="en-US" sz="10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V_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circle"/>
          <p:cNvSpPr/>
          <p:nvPr/>
        </p:nvSpPr>
        <p:spPr>
          <a:xfrm>
            <a:off x="548640" y="502920"/>
            <a:ext cx="777240" cy="777240"/>
          </a:xfrm>
          <a:prstGeom prst="ellipse">
            <a:avLst/>
          </a:prstGeom>
          <a:solidFill>
            <a:schemeClr val="accent2"/>
          </a:solidFill>
          <a:ln w="12700">
            <a:solidFill>
              <a:schemeClr val="accent2"/>
            </a:solidFill>
            <a:prstDash val="solid"/>
          </a:ln>
        </p:spPr>
      </p:sp>
      <p:pic>
        <p:nvPicPr>
          <p:cNvPr id="3" name="Title icon" descr="preencoded.png">    </p:cNvPr>
          <p:cNvPicPr>
            <a:picLocks noChangeAspect="1"/>
          </p:cNvPicPr>
          <p:nvPr/>
        </p:nvPicPr>
        <p:blipFill>
          <a:blip r:embed="rId1"/>
          <a:stretch>
            <a:fillRect/>
          </a:stretch>
        </p:blipFill>
        <p:spPr>
          <a:xfrm>
            <a:off x="742950" y="697230"/>
            <a:ext cx="388620" cy="388620"/>
          </a:xfrm>
          <a:prstGeom prst="rect">
            <a:avLst/>
          </a:prstGeom>
        </p:spPr>
      </p:pic>
      <p:sp>
        <p:nvSpPr>
          <p:cNvPr id="4" name="Text 0"/>
          <p:cNvSpPr/>
          <p:nvPr>
            <p:ph idx="100" type="title" hasCustomPrompt="1"/>
          </p:nvPr>
        </p:nvSpPr>
        <p:spPr>
          <a:xfrm>
            <a:off x="548640" y="1417320"/>
            <a:ext cx="8046720" cy="914400"/>
          </a:xfrm>
          <a:prstGeom prst="rect">
            <a:avLst/>
          </a:prstGeom>
          <a:noFill/>
          <a:ln/>
        </p:spPr>
        <p:txBody>
          <a:bodyPr wrap="square" lIns="0" tIns="0" rIns="0" bIns="0" rtlCol="0" anchor="b"/>
          <a:lstStyle/>
          <a:p>
            <a:pPr algn="l" indent="0" marL="0">
              <a:buNone/>
            </a:pPr>
            <a:r>
              <a:rPr lang="en-US" sz="5400" b="1" dirty="0">
                <a:solidFill>
                  <a:schemeClr val="bg1"/>
                </a:solidFill>
              </a:rPr>
              <a:t>CertiVerify</a:t>
            </a:r>
            <a:endParaRPr lang="en-US" sz="5400" dirty="0"/>
          </a:p>
        </p:txBody>
      </p:sp>
      <p:sp>
        <p:nvSpPr>
          <p:cNvPr id="5" name="Text 0"/>
          <p:cNvSpPr/>
          <p:nvPr>
            <p:ph idx="101" type="body" hasCustomPrompt="1"/>
          </p:nvPr>
        </p:nvSpPr>
        <p:spPr>
          <a:xfrm>
            <a:off x="548640" y="2423160"/>
            <a:ext cx="8046720" cy="822960"/>
          </a:xfrm>
          <a:prstGeom prst="rect">
            <a:avLst/>
          </a:prstGeom>
          <a:noFill/>
          <a:ln/>
        </p:spPr>
        <p:txBody>
          <a:bodyPr wrap="square" lIns="0" tIns="0" rIns="0" bIns="0" rtlCol="0" anchor="t"/>
          <a:lstStyle/>
          <a:p>
            <a:pPr algn="l" indent="0" marL="0">
              <a:buNone/>
            </a:pPr>
            <a:r>
              <a:rPr lang="en-US" sz="2000" dirty="0">
                <a:solidFill>
                  <a:schemeClr val="accent6"/>
                </a:solidFill>
              </a:rPr>
              <a:t>Blockchain-Based Smart Contract System for Secure Certificate Verification</a:t>
            </a:r>
            <a:endParaRPr lang="en-US" sz="2000" dirty="0"/>
          </a:p>
        </p:txBody>
      </p:sp>
      <p:sp>
        <p:nvSpPr>
          <p:cNvPr id="6" name="Presenter"/>
          <p:cNvSpPr txBox="1"/>
          <p:nvPr/>
        </p:nvSpPr>
        <p:spPr>
          <a:xfrm>
            <a:off x="548640" y="3794760"/>
            <a:ext cx="5943600" cy="685800"/>
          </a:xfrm>
          <a:prstGeom prst="rect">
            <a:avLst/>
          </a:prstGeom>
          <a:noFill/>
          <a:ln/>
        </p:spPr>
        <p:txBody>
          <a:bodyPr wrap="square" lIns="0" tIns="0" rIns="0" bIns="0" rtlCol="0" anchor="t"/>
          <a:lstStyle/>
          <a:p>
            <a:pPr indent="0" marL="0">
              <a:buNone/>
            </a:pPr>
            <a:r>
              <a:rPr lang="en-US" sz="1800" b="1" dirty="0">
                <a:solidFill>
                  <a:schemeClr val="bg1"/>
                </a:solidFill>
              </a:rPr>
              <a:t>Prakash Kumar</a:t>
            </a:r>
            <a:endParaRPr lang="en-US" sz="1400" dirty="0"/>
          </a:p>
          <a:p>
            <a:pPr indent="0" marL="0">
              <a:buNone/>
            </a:pPr>
            <a:r>
              <a:rPr lang="en-US" sz="1600" dirty="0">
                <a:solidFill>
                  <a:srgbClr val="CBD5E1"/>
                </a:solidFill>
              </a:rPr>
              <a:t>B.Tech Computer Science  ·  IIIT Lucknow</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The Problem: Can We Trust a Certificate PDF?</a:t>
            </a:r>
            <a:endParaRPr lang="en-US" sz="3000" dirty="0"/>
          </a:p>
        </p:txBody>
      </p:sp>
      <p:sp>
        <p:nvSpPr>
          <p:cNvPr id="3" name="Example card"/>
          <p:cNvSpPr/>
          <p:nvPr/>
        </p:nvSpPr>
        <p:spPr>
          <a:xfrm>
            <a:off x="457200" y="1097280"/>
            <a:ext cx="3566160" cy="3429000"/>
          </a:xfrm>
          <a:prstGeom prst="roundRect">
            <a:avLst>
              <a:gd name="adj" fmla="val 2133"/>
            </a:avLst>
          </a:prstGeom>
          <a:solidFill>
            <a:schemeClr val="bg2"/>
          </a:solidFill>
          <a:ln w="12700">
            <a:solidFill>
              <a:schemeClr val="bg2"/>
            </a:solidFill>
            <a:prstDash val="solid"/>
          </a:ln>
        </p:spPr>
      </p:sp>
      <p:sp>
        <p:nvSpPr>
          <p:cNvPr id="4" name="Example circle"/>
          <p:cNvSpPr/>
          <p:nvPr/>
        </p:nvSpPr>
        <p:spPr>
          <a:xfrm>
            <a:off x="685800" y="1298448"/>
            <a:ext cx="548640" cy="548640"/>
          </a:xfrm>
          <a:prstGeom prst="ellipse">
            <a:avLst/>
          </a:prstGeom>
          <a:solidFill>
            <a:srgbClr val="E2E8F0"/>
          </a:solidFill>
          <a:ln w="12700">
            <a:solidFill>
              <a:srgbClr val="E2E8F0"/>
            </a:solidFill>
            <a:prstDash val="solid"/>
          </a:ln>
        </p:spPr>
      </p:sp>
      <p:pic>
        <p:nvPicPr>
          <p:cNvPr id="5" name="Example icon" descr="preencoded.png">    </p:cNvPr>
          <p:cNvPicPr>
            <a:picLocks noChangeAspect="1"/>
          </p:cNvPicPr>
          <p:nvPr/>
        </p:nvPicPr>
        <p:blipFill>
          <a:blip r:embed="rId1"/>
          <a:stretch>
            <a:fillRect/>
          </a:stretch>
        </p:blipFill>
        <p:spPr>
          <a:xfrm>
            <a:off x="822960" y="1435608"/>
            <a:ext cx="274320" cy="274320"/>
          </a:xfrm>
          <a:prstGeom prst="rect">
            <a:avLst/>
          </a:prstGeom>
        </p:spPr>
      </p:pic>
      <p:sp>
        <p:nvSpPr>
          <p:cNvPr id="6" name="Text 3"/>
          <p:cNvSpPr txBox="1"/>
          <p:nvPr/>
        </p:nvSpPr>
        <p:spPr>
          <a:xfrm>
            <a:off x="1371600" y="1344168"/>
            <a:ext cx="2560320" cy="457200"/>
          </a:xfrm>
          <a:prstGeom prst="rect">
            <a:avLst/>
          </a:prstGeom>
          <a:noFill/>
          <a:ln/>
        </p:spPr>
        <p:txBody>
          <a:bodyPr wrap="square" lIns="0" tIns="0" rIns="0" bIns="0" rtlCol="0" anchor="ctr"/>
          <a:lstStyle/>
          <a:p>
            <a:pPr indent="0" marL="0">
              <a:buNone/>
            </a:pPr>
            <a:r>
              <a:rPr lang="en-US" sz="1600" b="1" dirty="0">
                <a:solidFill>
                  <a:schemeClr val="tx1"/>
                </a:solidFill>
              </a:rPr>
              <a:t>Example: a degree certificate</a:t>
            </a:r>
            <a:endParaRPr lang="en-US" sz="1600" dirty="0"/>
          </a:p>
        </p:txBody>
      </p:sp>
      <p:sp>
        <p:nvSpPr>
          <p:cNvPr id="7" name="Text 4"/>
          <p:cNvSpPr txBox="1"/>
          <p:nvPr/>
        </p:nvSpPr>
        <p:spPr>
          <a:xfrm>
            <a:off x="731520" y="2057400"/>
            <a:ext cx="3108960" cy="2286000"/>
          </a:xfrm>
          <a:prstGeom prst="rect">
            <a:avLst/>
          </a:prstGeom>
          <a:noFill/>
          <a:ln/>
        </p:spPr>
        <p:txBody>
          <a:bodyPr wrap="square" lIns="0" tIns="0" rIns="0" bIns="0" rtlCol="0" anchor="t"/>
          <a:lstStyle/>
          <a:p>
            <a:pPr indent="0" marL="0">
              <a:buNone/>
            </a:pPr>
            <a:r>
              <a:rPr lang="en-US" sz="1500" dirty="0">
                <a:solidFill>
                  <a:schemeClr val="tx2"/>
                </a:solidFill>
              </a:rPr>
              <a:t>A student sends a B.Tech degree PDF to an employer.</a:t>
            </a:r>
            <a:endParaRPr lang="en-US" sz="1500" dirty="0"/>
          </a:p>
          <a:p>
            <a:pPr indent="0" marL="0">
              <a:buNone/>
            </a:pPr>
            <a:r>
              <a:rPr lang="en-US" sz="800" dirty="0">
                <a:solidFill>
                  <a:schemeClr val="tx2"/>
                </a:solidFill>
              </a:rPr>
              <a:t> </a:t>
            </a:r>
            <a:endParaRPr lang="en-US" sz="1500" dirty="0"/>
          </a:p>
          <a:p>
            <a:pPr indent="0" marL="0">
              <a:buNone/>
            </a:pPr>
            <a:r>
              <a:rPr lang="en-US" sz="1500" dirty="0">
                <a:solidFill>
                  <a:schemeClr val="tx2"/>
                </a:solidFill>
              </a:rPr>
              <a:t>Someone changes the CGPA from 6.8 to 9.2 and saves the file again.</a:t>
            </a:r>
            <a:endParaRPr lang="en-US" sz="1500" dirty="0"/>
          </a:p>
          <a:p>
            <a:pPr indent="0" marL="0">
              <a:buNone/>
            </a:pPr>
            <a:r>
              <a:rPr lang="en-US" sz="800" dirty="0">
                <a:solidFill>
                  <a:schemeClr val="tx2"/>
                </a:solidFill>
              </a:rPr>
              <a:t> </a:t>
            </a:r>
            <a:endParaRPr lang="en-US" sz="1500" dirty="0"/>
          </a:p>
          <a:p>
            <a:pPr indent="0" marL="0">
              <a:buNone/>
            </a:pPr>
            <a:r>
              <a:rPr lang="en-US" sz="1500" b="1" dirty="0">
                <a:solidFill>
                  <a:schemeClr val="tx1"/>
                </a:solidFill>
              </a:rPr>
              <a:t>The edited PDF looks exactly like the original.</a:t>
            </a:r>
            <a:endParaRPr lang="en-US" sz="1500" dirty="0"/>
          </a:p>
        </p:txBody>
      </p:sp>
      <p:sp>
        <p:nvSpPr>
          <p:cNvPr id="8" name="Problem 1 card"/>
          <p:cNvSpPr/>
          <p:nvPr/>
        </p:nvSpPr>
        <p:spPr>
          <a:xfrm>
            <a:off x="4297680" y="1097280"/>
            <a:ext cx="4389120" cy="1024128"/>
          </a:xfrm>
          <a:prstGeom prst="roundRect">
            <a:avLst>
              <a:gd name="adj" fmla="val 7143"/>
            </a:avLst>
          </a:prstGeom>
          <a:solidFill>
            <a:schemeClr val="bg1"/>
          </a:solidFill>
          <a:ln w="12700">
            <a:solidFill>
              <a:schemeClr val="bg2"/>
            </a:solidFill>
            <a:prstDash val="solid"/>
          </a:ln>
        </p:spPr>
      </p:sp>
      <p:sp>
        <p:nvSpPr>
          <p:cNvPr id="9" name="Problem 1 circle"/>
          <p:cNvSpPr/>
          <p:nvPr/>
        </p:nvSpPr>
        <p:spPr>
          <a:xfrm>
            <a:off x="4480560" y="1316736"/>
            <a:ext cx="585216" cy="585216"/>
          </a:xfrm>
          <a:prstGeom prst="ellipse">
            <a:avLst/>
          </a:prstGeom>
          <a:solidFill>
            <a:srgbClr val="FEE2E2"/>
          </a:solidFill>
          <a:ln w="12700">
            <a:solidFill>
              <a:srgbClr val="FEE2E2"/>
            </a:solidFill>
            <a:prstDash val="solid"/>
          </a:ln>
        </p:spPr>
      </p:sp>
      <p:pic>
        <p:nvPicPr>
          <p:cNvPr id="10" name="Problem 1 icon" descr="preencoded.png">    </p:cNvPr>
          <p:cNvPicPr>
            <a:picLocks noChangeAspect="1"/>
          </p:cNvPicPr>
          <p:nvPr/>
        </p:nvPicPr>
        <p:blipFill>
          <a:blip r:embed="rId2"/>
          <a:stretch>
            <a:fillRect/>
          </a:stretch>
        </p:blipFill>
        <p:spPr>
          <a:xfrm>
            <a:off x="4626864" y="1463040"/>
            <a:ext cx="292608" cy="292608"/>
          </a:xfrm>
          <a:prstGeom prst="rect">
            <a:avLst/>
          </a:prstGeom>
        </p:spPr>
      </p:pic>
      <p:sp>
        <p:nvSpPr>
          <p:cNvPr id="11" name="Text 7"/>
          <p:cNvSpPr txBox="1"/>
          <p:nvPr/>
        </p:nvSpPr>
        <p:spPr>
          <a:xfrm>
            <a:off x="5257800" y="1225296"/>
            <a:ext cx="3291840" cy="347472"/>
          </a:xfrm>
          <a:prstGeom prst="rect">
            <a:avLst/>
          </a:prstGeom>
          <a:noFill/>
          <a:ln/>
        </p:spPr>
        <p:txBody>
          <a:bodyPr wrap="square" lIns="0" tIns="0" rIns="0" bIns="0" rtlCol="0" anchor="ctr"/>
          <a:lstStyle/>
          <a:p>
            <a:pPr indent="0" marL="0">
              <a:buNone/>
            </a:pPr>
            <a:r>
              <a:rPr lang="en-US" sz="1700" b="1" dirty="0">
                <a:solidFill>
                  <a:schemeClr val="tx1"/>
                </a:solidFill>
              </a:rPr>
              <a:t>Fake or modified certificates</a:t>
            </a:r>
            <a:endParaRPr lang="en-US" sz="1700" dirty="0"/>
          </a:p>
        </p:txBody>
      </p:sp>
      <p:sp>
        <p:nvSpPr>
          <p:cNvPr id="12" name="Text 8"/>
          <p:cNvSpPr txBox="1"/>
          <p:nvPr/>
        </p:nvSpPr>
        <p:spPr>
          <a:xfrm>
            <a:off x="5257800" y="1572768"/>
            <a:ext cx="3291840" cy="457200"/>
          </a:xfrm>
          <a:prstGeom prst="rect">
            <a:avLst/>
          </a:prstGeom>
          <a:noFill/>
          <a:ln/>
        </p:spPr>
        <p:txBody>
          <a:bodyPr wrap="square" lIns="0" tIns="0" rIns="0" bIns="0" rtlCol="0" anchor="t"/>
          <a:lstStyle/>
          <a:p>
            <a:pPr indent="0" marL="0">
              <a:buNone/>
            </a:pPr>
            <a:r>
              <a:rPr lang="en-US" sz="1400" dirty="0">
                <a:solidFill>
                  <a:schemeClr val="tx2"/>
                </a:solidFill>
              </a:rPr>
              <a:t>Editing a PDF is easy, and the forgery is hard to see.</a:t>
            </a:r>
            <a:endParaRPr lang="en-US" sz="1400" dirty="0"/>
          </a:p>
        </p:txBody>
      </p:sp>
      <p:sp>
        <p:nvSpPr>
          <p:cNvPr id="13" name="Problem 2 card"/>
          <p:cNvSpPr/>
          <p:nvPr/>
        </p:nvSpPr>
        <p:spPr>
          <a:xfrm>
            <a:off x="4297680" y="2276856"/>
            <a:ext cx="4389120" cy="1024128"/>
          </a:xfrm>
          <a:prstGeom prst="roundRect">
            <a:avLst>
              <a:gd name="adj" fmla="val 7143"/>
            </a:avLst>
          </a:prstGeom>
          <a:solidFill>
            <a:schemeClr val="bg1"/>
          </a:solidFill>
          <a:ln w="12700">
            <a:solidFill>
              <a:schemeClr val="bg2"/>
            </a:solidFill>
            <a:prstDash val="solid"/>
          </a:ln>
        </p:spPr>
      </p:sp>
      <p:sp>
        <p:nvSpPr>
          <p:cNvPr id="14" name="Problem 2 circle"/>
          <p:cNvSpPr/>
          <p:nvPr/>
        </p:nvSpPr>
        <p:spPr>
          <a:xfrm>
            <a:off x="4480560" y="2496312"/>
            <a:ext cx="585216" cy="585216"/>
          </a:xfrm>
          <a:prstGeom prst="ellipse">
            <a:avLst/>
          </a:prstGeom>
          <a:solidFill>
            <a:srgbClr val="FEF3C7"/>
          </a:solidFill>
          <a:ln w="12700">
            <a:solidFill>
              <a:srgbClr val="FEF3C7"/>
            </a:solidFill>
            <a:prstDash val="solid"/>
          </a:ln>
        </p:spPr>
      </p:sp>
      <p:pic>
        <p:nvPicPr>
          <p:cNvPr id="15" name="Problem 2 icon" descr="preencoded.png">    </p:cNvPr>
          <p:cNvPicPr>
            <a:picLocks noChangeAspect="1"/>
          </p:cNvPicPr>
          <p:nvPr/>
        </p:nvPicPr>
        <p:blipFill>
          <a:blip r:embed="rId3"/>
          <a:stretch>
            <a:fillRect/>
          </a:stretch>
        </p:blipFill>
        <p:spPr>
          <a:xfrm>
            <a:off x="4626864" y="2642616"/>
            <a:ext cx="292608" cy="292608"/>
          </a:xfrm>
          <a:prstGeom prst="rect">
            <a:avLst/>
          </a:prstGeom>
        </p:spPr>
      </p:pic>
      <p:sp>
        <p:nvSpPr>
          <p:cNvPr id="16" name="Text 11"/>
          <p:cNvSpPr txBox="1"/>
          <p:nvPr/>
        </p:nvSpPr>
        <p:spPr>
          <a:xfrm>
            <a:off x="5257800" y="2404872"/>
            <a:ext cx="3291840" cy="347472"/>
          </a:xfrm>
          <a:prstGeom prst="rect">
            <a:avLst/>
          </a:prstGeom>
          <a:noFill/>
          <a:ln/>
        </p:spPr>
        <p:txBody>
          <a:bodyPr wrap="square" lIns="0" tIns="0" rIns="0" bIns="0" rtlCol="0" anchor="ctr"/>
          <a:lstStyle/>
          <a:p>
            <a:pPr indent="0" marL="0">
              <a:buNone/>
            </a:pPr>
            <a:r>
              <a:rPr lang="en-US" sz="1700" b="1" dirty="0">
                <a:solidFill>
                  <a:schemeClr val="tx1"/>
                </a:solidFill>
              </a:rPr>
              <a:t>Manual verification is slow</a:t>
            </a:r>
            <a:endParaRPr lang="en-US" sz="1700" dirty="0"/>
          </a:p>
        </p:txBody>
      </p:sp>
      <p:sp>
        <p:nvSpPr>
          <p:cNvPr id="17" name="Text 12"/>
          <p:cNvSpPr txBox="1"/>
          <p:nvPr/>
        </p:nvSpPr>
        <p:spPr>
          <a:xfrm>
            <a:off x="5257800" y="2752344"/>
            <a:ext cx="3291840" cy="457200"/>
          </a:xfrm>
          <a:prstGeom prst="rect">
            <a:avLst/>
          </a:prstGeom>
          <a:noFill/>
          <a:ln/>
        </p:spPr>
        <p:txBody>
          <a:bodyPr wrap="square" lIns="0" tIns="0" rIns="0" bIns="0" rtlCol="0" anchor="t"/>
          <a:lstStyle/>
          <a:p>
            <a:pPr indent="0" marL="0">
              <a:buNone/>
            </a:pPr>
            <a:r>
              <a:rPr lang="en-US" sz="1400" dirty="0">
                <a:solidFill>
                  <a:schemeClr val="tx2"/>
                </a:solidFill>
              </a:rPr>
              <a:t>Emails and phone calls to the university can take days.</a:t>
            </a:r>
            <a:endParaRPr lang="en-US" sz="1400" dirty="0"/>
          </a:p>
        </p:txBody>
      </p:sp>
      <p:sp>
        <p:nvSpPr>
          <p:cNvPr id="18" name="Problem 3 card"/>
          <p:cNvSpPr/>
          <p:nvPr/>
        </p:nvSpPr>
        <p:spPr>
          <a:xfrm>
            <a:off x="4297680" y="3456432"/>
            <a:ext cx="4389120" cy="1024128"/>
          </a:xfrm>
          <a:prstGeom prst="roundRect">
            <a:avLst>
              <a:gd name="adj" fmla="val 7143"/>
            </a:avLst>
          </a:prstGeom>
          <a:solidFill>
            <a:schemeClr val="bg1"/>
          </a:solidFill>
          <a:ln w="12700">
            <a:solidFill>
              <a:schemeClr val="bg2"/>
            </a:solidFill>
            <a:prstDash val="solid"/>
          </a:ln>
        </p:spPr>
      </p:sp>
      <p:sp>
        <p:nvSpPr>
          <p:cNvPr id="19" name="Problem 3 circle"/>
          <p:cNvSpPr/>
          <p:nvPr/>
        </p:nvSpPr>
        <p:spPr>
          <a:xfrm>
            <a:off x="4480560" y="3675888"/>
            <a:ext cx="585216" cy="585216"/>
          </a:xfrm>
          <a:prstGeom prst="ellipse">
            <a:avLst/>
          </a:prstGeom>
          <a:solidFill>
            <a:srgbClr val="FEE2E2"/>
          </a:solidFill>
          <a:ln w="12700">
            <a:solidFill>
              <a:srgbClr val="FEE2E2"/>
            </a:solidFill>
            <a:prstDash val="solid"/>
          </a:ln>
        </p:spPr>
      </p:sp>
      <p:pic>
        <p:nvPicPr>
          <p:cNvPr id="20" name="Problem 3 icon" descr="preencoded.png">    </p:cNvPr>
          <p:cNvPicPr>
            <a:picLocks noChangeAspect="1"/>
          </p:cNvPicPr>
          <p:nvPr/>
        </p:nvPicPr>
        <p:blipFill>
          <a:blip r:embed="rId4"/>
          <a:stretch>
            <a:fillRect/>
          </a:stretch>
        </p:blipFill>
        <p:spPr>
          <a:xfrm>
            <a:off x="4626864" y="3822192"/>
            <a:ext cx="292608" cy="292608"/>
          </a:xfrm>
          <a:prstGeom prst="rect">
            <a:avLst/>
          </a:prstGeom>
        </p:spPr>
      </p:pic>
      <p:sp>
        <p:nvSpPr>
          <p:cNvPr id="21" name="Text 15"/>
          <p:cNvSpPr txBox="1"/>
          <p:nvPr/>
        </p:nvSpPr>
        <p:spPr>
          <a:xfrm>
            <a:off x="5257800" y="3584448"/>
            <a:ext cx="3291840" cy="347472"/>
          </a:xfrm>
          <a:prstGeom prst="rect">
            <a:avLst/>
          </a:prstGeom>
          <a:noFill/>
          <a:ln/>
        </p:spPr>
        <p:txBody>
          <a:bodyPr wrap="square" lIns="0" tIns="0" rIns="0" bIns="0" rtlCol="0" anchor="ctr"/>
          <a:lstStyle/>
          <a:p>
            <a:pPr indent="0" marL="0">
              <a:buNone/>
            </a:pPr>
            <a:r>
              <a:rPr lang="en-US" sz="1700" b="1" dirty="0">
                <a:solidFill>
                  <a:schemeClr val="tx1"/>
                </a:solidFill>
              </a:rPr>
              <a:t>Revocation is hard to check</a:t>
            </a:r>
            <a:endParaRPr lang="en-US" sz="1700" dirty="0"/>
          </a:p>
        </p:txBody>
      </p:sp>
      <p:sp>
        <p:nvSpPr>
          <p:cNvPr id="22" name="Text 16"/>
          <p:cNvSpPr txBox="1"/>
          <p:nvPr/>
        </p:nvSpPr>
        <p:spPr>
          <a:xfrm>
            <a:off x="5257800" y="3931920"/>
            <a:ext cx="3291840" cy="457200"/>
          </a:xfrm>
          <a:prstGeom prst="rect">
            <a:avLst/>
          </a:prstGeom>
          <a:noFill/>
          <a:ln/>
        </p:spPr>
        <p:txBody>
          <a:bodyPr wrap="square" lIns="0" tIns="0" rIns="0" bIns="0" rtlCol="0" anchor="t"/>
          <a:lstStyle/>
          <a:p>
            <a:pPr indent="0" marL="0">
              <a:buNone/>
            </a:pPr>
            <a:r>
              <a:rPr lang="en-US" sz="1400" dirty="0">
                <a:solidFill>
                  <a:schemeClr val="tx2"/>
                </a:solidFill>
              </a:rPr>
              <a:t>A certificate cancelled later still looks valid on paper.</a:t>
            </a:r>
            <a:endParaRPr lang="en-US" sz="14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Our Solution: A Digital Fingerprint on the Blockchain</a:t>
            </a:r>
            <a:endParaRPr lang="en-US" sz="3000" dirty="0"/>
          </a:p>
        </p:txBody>
      </p:sp>
      <p:sp>
        <p:nvSpPr>
          <p:cNvPr id="3" name="Step 1 card"/>
          <p:cNvSpPr/>
          <p:nvPr/>
        </p:nvSpPr>
        <p:spPr>
          <a:xfrm>
            <a:off x="457200" y="1051560"/>
            <a:ext cx="2560320" cy="1874520"/>
          </a:xfrm>
          <a:prstGeom prst="roundRect">
            <a:avLst>
              <a:gd name="adj" fmla="val 3902"/>
            </a:avLst>
          </a:prstGeom>
          <a:solidFill>
            <a:schemeClr val="bg2"/>
          </a:solidFill>
          <a:ln w="12700">
            <a:solidFill>
              <a:schemeClr val="bg2"/>
            </a:solidFill>
            <a:prstDash val="solid"/>
          </a:ln>
        </p:spPr>
      </p:sp>
      <p:sp>
        <p:nvSpPr>
          <p:cNvPr id="4" name="Step 1 circle"/>
          <p:cNvSpPr/>
          <p:nvPr/>
        </p:nvSpPr>
        <p:spPr>
          <a:xfrm>
            <a:off x="1417320" y="1188720"/>
            <a:ext cx="640080" cy="640080"/>
          </a:xfrm>
          <a:prstGeom prst="ellipse">
            <a:avLst/>
          </a:prstGeom>
          <a:solidFill>
            <a:schemeClr val="accent2"/>
          </a:solidFill>
          <a:ln w="12700">
            <a:solidFill>
              <a:schemeClr val="accent2"/>
            </a:solidFill>
            <a:prstDash val="solid"/>
          </a:ln>
        </p:spPr>
      </p:sp>
      <p:pic>
        <p:nvPicPr>
          <p:cNvPr id="5" name="Step 1 icon" descr="preencoded.png">    </p:cNvPr>
          <p:cNvPicPr>
            <a:picLocks noChangeAspect="1"/>
          </p:cNvPicPr>
          <p:nvPr/>
        </p:nvPicPr>
        <p:blipFill>
          <a:blip r:embed="rId1"/>
          <a:stretch>
            <a:fillRect/>
          </a:stretch>
        </p:blipFill>
        <p:spPr>
          <a:xfrm>
            <a:off x="1577340" y="1348740"/>
            <a:ext cx="320040" cy="320040"/>
          </a:xfrm>
          <a:prstGeom prst="rect">
            <a:avLst/>
          </a:prstGeom>
        </p:spPr>
      </p:pic>
      <p:sp>
        <p:nvSpPr>
          <p:cNvPr id="6" name="Text 3"/>
          <p:cNvSpPr txBox="1"/>
          <p:nvPr/>
        </p:nvSpPr>
        <p:spPr>
          <a:xfrm>
            <a:off x="594360" y="1901952"/>
            <a:ext cx="2286000" cy="320040"/>
          </a:xfrm>
          <a:prstGeom prst="rect">
            <a:avLst/>
          </a:prstGeom>
          <a:noFill/>
          <a:ln/>
        </p:spPr>
        <p:txBody>
          <a:bodyPr wrap="square" lIns="0" tIns="0" rIns="0" bIns="0" rtlCol="0" anchor="t"/>
          <a:lstStyle/>
          <a:p>
            <a:pPr algn="ctr" indent="0" marL="0">
              <a:buNone/>
            </a:pPr>
            <a:r>
              <a:rPr lang="en-US" sz="1600" b="1" dirty="0">
                <a:solidFill>
                  <a:schemeClr val="tx1"/>
                </a:solidFill>
              </a:rPr>
              <a:t>Certificate PDF</a:t>
            </a:r>
            <a:endParaRPr lang="en-US" sz="1600" dirty="0"/>
          </a:p>
        </p:txBody>
      </p:sp>
      <p:sp>
        <p:nvSpPr>
          <p:cNvPr id="7" name="Text 4"/>
          <p:cNvSpPr txBox="1"/>
          <p:nvPr/>
        </p:nvSpPr>
        <p:spPr>
          <a:xfrm>
            <a:off x="594360" y="2240280"/>
            <a:ext cx="2286000" cy="640080"/>
          </a:xfrm>
          <a:prstGeom prst="rect">
            <a:avLst/>
          </a:prstGeom>
          <a:noFill/>
          <a:ln/>
        </p:spPr>
        <p:txBody>
          <a:bodyPr wrap="square" lIns="0" tIns="0" rIns="0" bIns="0" rtlCol="0" anchor="t"/>
          <a:lstStyle/>
          <a:p>
            <a:pPr algn="ctr" indent="0" marL="0">
              <a:buNone/>
            </a:pPr>
            <a:r>
              <a:rPr lang="en-US" sz="1300" dirty="0">
                <a:solidFill>
                  <a:schemeClr val="tx2"/>
                </a:solidFill>
              </a:rPr>
              <a:t>Stays with the student and the university</a:t>
            </a:r>
            <a:endParaRPr lang="en-US" sz="1300" dirty="0"/>
          </a:p>
        </p:txBody>
      </p:sp>
      <p:sp>
        <p:nvSpPr>
          <p:cNvPr id="8" name="Arrow 1"/>
          <p:cNvSpPr/>
          <p:nvPr/>
        </p:nvSpPr>
        <p:spPr>
          <a:xfrm>
            <a:off x="3044952" y="1984248"/>
            <a:ext cx="219456" cy="0"/>
          </a:xfrm>
          <a:prstGeom prst="line">
            <a:avLst/>
          </a:prstGeom>
          <a:noFill/>
          <a:ln w="25400">
            <a:solidFill>
              <a:schemeClr val="accent1"/>
            </a:solidFill>
            <a:prstDash val="solid"/>
            <a:tailEnd type="triangle"/>
          </a:ln>
        </p:spPr>
      </p:sp>
      <p:sp>
        <p:nvSpPr>
          <p:cNvPr id="9" name="Step 2 card"/>
          <p:cNvSpPr/>
          <p:nvPr/>
        </p:nvSpPr>
        <p:spPr>
          <a:xfrm>
            <a:off x="3291840" y="1051560"/>
            <a:ext cx="2560320" cy="1874520"/>
          </a:xfrm>
          <a:prstGeom prst="roundRect">
            <a:avLst>
              <a:gd name="adj" fmla="val 3902"/>
            </a:avLst>
          </a:prstGeom>
          <a:solidFill>
            <a:schemeClr val="bg2"/>
          </a:solidFill>
          <a:ln w="12700">
            <a:solidFill>
              <a:schemeClr val="bg2"/>
            </a:solidFill>
            <a:prstDash val="solid"/>
          </a:ln>
        </p:spPr>
      </p:sp>
      <p:sp>
        <p:nvSpPr>
          <p:cNvPr id="10" name="Step 2 circle"/>
          <p:cNvSpPr/>
          <p:nvPr/>
        </p:nvSpPr>
        <p:spPr>
          <a:xfrm>
            <a:off x="4251960" y="1188720"/>
            <a:ext cx="640080" cy="640080"/>
          </a:xfrm>
          <a:prstGeom prst="ellipse">
            <a:avLst/>
          </a:prstGeom>
          <a:solidFill>
            <a:schemeClr val="accent1"/>
          </a:solidFill>
          <a:ln w="12700">
            <a:solidFill>
              <a:schemeClr val="accent1"/>
            </a:solidFill>
            <a:prstDash val="solid"/>
          </a:ln>
        </p:spPr>
      </p:sp>
      <p:pic>
        <p:nvPicPr>
          <p:cNvPr id="11" name="Step 2 icon" descr="preencoded.png">    </p:cNvPr>
          <p:cNvPicPr>
            <a:picLocks noChangeAspect="1"/>
          </p:cNvPicPr>
          <p:nvPr/>
        </p:nvPicPr>
        <p:blipFill>
          <a:blip r:embed="rId2"/>
          <a:stretch>
            <a:fillRect/>
          </a:stretch>
        </p:blipFill>
        <p:spPr>
          <a:xfrm>
            <a:off x="4411980" y="1348740"/>
            <a:ext cx="320040" cy="320040"/>
          </a:xfrm>
          <a:prstGeom prst="rect">
            <a:avLst/>
          </a:prstGeom>
        </p:spPr>
      </p:pic>
      <p:sp>
        <p:nvSpPr>
          <p:cNvPr id="12" name="Text 8"/>
          <p:cNvSpPr txBox="1"/>
          <p:nvPr/>
        </p:nvSpPr>
        <p:spPr>
          <a:xfrm>
            <a:off x="3429000" y="1901952"/>
            <a:ext cx="2286000" cy="320040"/>
          </a:xfrm>
          <a:prstGeom prst="rect">
            <a:avLst/>
          </a:prstGeom>
          <a:noFill/>
          <a:ln/>
        </p:spPr>
        <p:txBody>
          <a:bodyPr wrap="square" lIns="0" tIns="0" rIns="0" bIns="0" rtlCol="0" anchor="t"/>
          <a:lstStyle/>
          <a:p>
            <a:pPr algn="ctr" indent="0" marL="0">
              <a:buNone/>
            </a:pPr>
            <a:r>
              <a:rPr lang="en-US" sz="1600" b="1" dirty="0">
                <a:solidFill>
                  <a:schemeClr val="tx1"/>
                </a:solidFill>
              </a:rPr>
              <a:t>SHA-256 fingerprint</a:t>
            </a:r>
            <a:endParaRPr lang="en-US" sz="1600" dirty="0"/>
          </a:p>
        </p:txBody>
      </p:sp>
      <p:sp>
        <p:nvSpPr>
          <p:cNvPr id="13" name="Text 9"/>
          <p:cNvSpPr txBox="1"/>
          <p:nvPr/>
        </p:nvSpPr>
        <p:spPr>
          <a:xfrm>
            <a:off x="3429000" y="2240280"/>
            <a:ext cx="2286000" cy="640080"/>
          </a:xfrm>
          <a:prstGeom prst="rect">
            <a:avLst/>
          </a:prstGeom>
          <a:noFill/>
          <a:ln/>
        </p:spPr>
        <p:txBody>
          <a:bodyPr wrap="square" lIns="0" tIns="0" rIns="0" bIns="0" rtlCol="0" anchor="t"/>
          <a:lstStyle/>
          <a:p>
            <a:pPr algn="ctr" indent="0" marL="0">
              <a:buNone/>
            </a:pPr>
            <a:r>
              <a:rPr lang="en-US" sz="1300" dirty="0">
                <a:solidFill>
                  <a:schemeClr val="tx2"/>
                </a:solidFill>
              </a:rPr>
              <a:t>A unique 32-byte code computed from the exact PDF bytes</a:t>
            </a:r>
            <a:endParaRPr lang="en-US" sz="1300" dirty="0"/>
          </a:p>
        </p:txBody>
      </p:sp>
      <p:sp>
        <p:nvSpPr>
          <p:cNvPr id="14" name="Arrow 2"/>
          <p:cNvSpPr/>
          <p:nvPr/>
        </p:nvSpPr>
        <p:spPr>
          <a:xfrm>
            <a:off x="5879592" y="1984248"/>
            <a:ext cx="219456" cy="0"/>
          </a:xfrm>
          <a:prstGeom prst="line">
            <a:avLst/>
          </a:prstGeom>
          <a:noFill/>
          <a:ln w="25400">
            <a:solidFill>
              <a:schemeClr val="accent1"/>
            </a:solidFill>
            <a:prstDash val="solid"/>
            <a:tailEnd type="triangle"/>
          </a:ln>
        </p:spPr>
      </p:sp>
      <p:sp>
        <p:nvSpPr>
          <p:cNvPr id="15" name="Step 3 card"/>
          <p:cNvSpPr/>
          <p:nvPr/>
        </p:nvSpPr>
        <p:spPr>
          <a:xfrm>
            <a:off x="6126480" y="1051560"/>
            <a:ext cx="2560320" cy="1874520"/>
          </a:xfrm>
          <a:prstGeom prst="roundRect">
            <a:avLst>
              <a:gd name="adj" fmla="val 3902"/>
            </a:avLst>
          </a:prstGeom>
          <a:solidFill>
            <a:schemeClr val="bg2"/>
          </a:solidFill>
          <a:ln w="12700">
            <a:solidFill>
              <a:schemeClr val="bg2"/>
            </a:solidFill>
            <a:prstDash val="solid"/>
          </a:ln>
        </p:spPr>
      </p:sp>
      <p:sp>
        <p:nvSpPr>
          <p:cNvPr id="16" name="Step 3 circle"/>
          <p:cNvSpPr/>
          <p:nvPr/>
        </p:nvSpPr>
        <p:spPr>
          <a:xfrm>
            <a:off x="7086600" y="1188720"/>
            <a:ext cx="640080" cy="640080"/>
          </a:xfrm>
          <a:prstGeom prst="ellipse">
            <a:avLst/>
          </a:prstGeom>
          <a:solidFill>
            <a:schemeClr val="tx1"/>
          </a:solidFill>
          <a:ln w="12700">
            <a:solidFill>
              <a:schemeClr val="tx1"/>
            </a:solidFill>
            <a:prstDash val="solid"/>
          </a:ln>
        </p:spPr>
      </p:sp>
      <p:pic>
        <p:nvPicPr>
          <p:cNvPr id="17" name="Step 3 icon" descr="preencoded.png">    </p:cNvPr>
          <p:cNvPicPr>
            <a:picLocks noChangeAspect="1"/>
          </p:cNvPicPr>
          <p:nvPr/>
        </p:nvPicPr>
        <p:blipFill>
          <a:blip r:embed="rId3"/>
          <a:stretch>
            <a:fillRect/>
          </a:stretch>
        </p:blipFill>
        <p:spPr>
          <a:xfrm>
            <a:off x="7246620" y="1348740"/>
            <a:ext cx="320040" cy="320040"/>
          </a:xfrm>
          <a:prstGeom prst="rect">
            <a:avLst/>
          </a:prstGeom>
        </p:spPr>
      </p:pic>
      <p:sp>
        <p:nvSpPr>
          <p:cNvPr id="18" name="Text 13"/>
          <p:cNvSpPr txBox="1"/>
          <p:nvPr/>
        </p:nvSpPr>
        <p:spPr>
          <a:xfrm>
            <a:off x="6263640" y="1901952"/>
            <a:ext cx="2286000" cy="320040"/>
          </a:xfrm>
          <a:prstGeom prst="rect">
            <a:avLst/>
          </a:prstGeom>
          <a:noFill/>
          <a:ln/>
        </p:spPr>
        <p:txBody>
          <a:bodyPr wrap="square" lIns="0" tIns="0" rIns="0" bIns="0" rtlCol="0" anchor="t"/>
          <a:lstStyle/>
          <a:p>
            <a:pPr algn="ctr" indent="0" marL="0">
              <a:buNone/>
            </a:pPr>
            <a:r>
              <a:rPr lang="en-US" sz="1600" b="1" dirty="0">
                <a:solidFill>
                  <a:schemeClr val="tx1"/>
                </a:solidFill>
              </a:rPr>
              <a:t>Blockchain record</a:t>
            </a:r>
            <a:endParaRPr lang="en-US" sz="1600" dirty="0"/>
          </a:p>
        </p:txBody>
      </p:sp>
      <p:sp>
        <p:nvSpPr>
          <p:cNvPr id="19" name="Text 14"/>
          <p:cNvSpPr txBox="1"/>
          <p:nvPr/>
        </p:nvSpPr>
        <p:spPr>
          <a:xfrm>
            <a:off x="6263640" y="2240280"/>
            <a:ext cx="2286000" cy="640080"/>
          </a:xfrm>
          <a:prstGeom prst="rect">
            <a:avLst/>
          </a:prstGeom>
          <a:noFill/>
          <a:ln/>
        </p:spPr>
        <p:txBody>
          <a:bodyPr wrap="square" lIns="0" tIns="0" rIns="0" bIns="0" rtlCol="0" anchor="t"/>
          <a:lstStyle/>
          <a:p>
            <a:pPr algn="ctr" indent="0" marL="0">
              <a:buNone/>
            </a:pPr>
            <a:r>
              <a:rPr lang="en-US" sz="1300" dirty="0">
                <a:solidFill>
                  <a:schemeClr val="tx2"/>
                </a:solidFill>
              </a:rPr>
              <a:t>Fingerprint + issuer + revoked flag, stored by a smart contract</a:t>
            </a:r>
            <a:endParaRPr lang="en-US" sz="1300" dirty="0"/>
          </a:p>
        </p:txBody>
      </p:sp>
      <p:sp>
        <p:nvSpPr>
          <p:cNvPr id="20" name="Text 15"/>
          <p:cNvSpPr txBox="1"/>
          <p:nvPr/>
        </p:nvSpPr>
        <p:spPr>
          <a:xfrm>
            <a:off x="457200" y="3035808"/>
            <a:ext cx="8229600" cy="320040"/>
          </a:xfrm>
          <a:prstGeom prst="rect">
            <a:avLst/>
          </a:prstGeom>
          <a:noFill/>
          <a:ln/>
        </p:spPr>
        <p:txBody>
          <a:bodyPr wrap="square" lIns="0" tIns="0" rIns="0" bIns="0" rtlCol="0" anchor="t"/>
          <a:lstStyle/>
          <a:p>
            <a:pPr algn="ctr" indent="0" marL="0">
              <a:buNone/>
            </a:pPr>
            <a:r>
              <a:rPr lang="en-US" sz="1500" b="1" i="1" dirty="0">
                <a:solidFill>
                  <a:schemeClr val="accent1"/>
                </a:solidFill>
              </a:rPr>
              <a:t>Change even one byte of the PDF, and the fingerprint changes completely.</a:t>
            </a:r>
            <a:endParaRPr lang="en-US" sz="1500" dirty="0"/>
          </a:p>
        </p:txBody>
      </p:sp>
      <p:sp>
        <p:nvSpPr>
          <p:cNvPr id="21" name="Text 16"/>
          <p:cNvSpPr txBox="1"/>
          <p:nvPr/>
        </p:nvSpPr>
        <p:spPr>
          <a:xfrm>
            <a:off x="457200" y="3474720"/>
            <a:ext cx="8229600" cy="274320"/>
          </a:xfrm>
          <a:prstGeom prst="rect">
            <a:avLst/>
          </a:prstGeom>
          <a:noFill/>
          <a:ln/>
        </p:spPr>
        <p:txBody>
          <a:bodyPr wrap="square" lIns="0" tIns="0" rIns="0" bIns="0" rtlCol="0" anchor="t"/>
          <a:lstStyle/>
          <a:p>
            <a:pPr indent="0" marL="0">
              <a:buNone/>
            </a:pPr>
            <a:r>
              <a:rPr lang="en-US" sz="1600" b="1" dirty="0">
                <a:solidFill>
                  <a:schemeClr val="tx1"/>
                </a:solidFill>
              </a:rPr>
              <a:t>Objectives</a:t>
            </a:r>
            <a:endParaRPr lang="en-US" sz="1600" dirty="0"/>
          </a:p>
        </p:txBody>
      </p:sp>
      <p:sp>
        <p:nvSpPr>
          <p:cNvPr id="22" name="Objective 1 circle"/>
          <p:cNvSpPr/>
          <p:nvPr/>
        </p:nvSpPr>
        <p:spPr>
          <a:xfrm>
            <a:off x="457200" y="3858768"/>
            <a:ext cx="329184" cy="329184"/>
          </a:xfrm>
          <a:prstGeom prst="ellipse">
            <a:avLst/>
          </a:prstGeom>
          <a:solidFill>
            <a:schemeClr val="accent1"/>
          </a:solidFill>
          <a:ln w="12700">
            <a:solidFill>
              <a:schemeClr val="accent1"/>
            </a:solidFill>
            <a:prstDash val="solid"/>
          </a:ln>
        </p:spPr>
      </p:sp>
      <p:pic>
        <p:nvPicPr>
          <p:cNvPr id="23" name="Objective 1 icon" descr="preencoded.png">    </p:cNvPr>
          <p:cNvPicPr>
            <a:picLocks noChangeAspect="1"/>
          </p:cNvPicPr>
          <p:nvPr/>
        </p:nvPicPr>
        <p:blipFill>
          <a:blip r:embed="rId4"/>
          <a:stretch>
            <a:fillRect/>
          </a:stretch>
        </p:blipFill>
        <p:spPr>
          <a:xfrm>
            <a:off x="539496" y="3941064"/>
            <a:ext cx="164592" cy="164592"/>
          </a:xfrm>
          <a:prstGeom prst="rect">
            <a:avLst/>
          </a:prstGeom>
        </p:spPr>
      </p:pic>
      <p:sp>
        <p:nvSpPr>
          <p:cNvPr id="24" name="Text 18"/>
          <p:cNvSpPr txBox="1"/>
          <p:nvPr/>
        </p:nvSpPr>
        <p:spPr>
          <a:xfrm>
            <a:off x="868680" y="3813048"/>
            <a:ext cx="1600200" cy="457200"/>
          </a:xfrm>
          <a:prstGeom prst="rect">
            <a:avLst/>
          </a:prstGeom>
          <a:noFill/>
          <a:ln/>
        </p:spPr>
        <p:txBody>
          <a:bodyPr wrap="square" lIns="0" tIns="0" rIns="0" bIns="0" rtlCol="0" anchor="ctr"/>
          <a:lstStyle/>
          <a:p>
            <a:pPr indent="0" marL="0">
              <a:buNone/>
            </a:pPr>
            <a:r>
              <a:rPr lang="en-US" sz="1300" dirty="0">
                <a:solidFill>
                  <a:schemeClr val="tx2"/>
                </a:solidFill>
              </a:rPr>
              <a:t>Only authorized issuers can issue</a:t>
            </a:r>
            <a:endParaRPr lang="en-US" sz="1300" dirty="0"/>
          </a:p>
        </p:txBody>
      </p:sp>
      <p:sp>
        <p:nvSpPr>
          <p:cNvPr id="25" name="Objective 2 circle"/>
          <p:cNvSpPr/>
          <p:nvPr/>
        </p:nvSpPr>
        <p:spPr>
          <a:xfrm>
            <a:off x="2551176" y="3858768"/>
            <a:ext cx="329184" cy="329184"/>
          </a:xfrm>
          <a:prstGeom prst="ellipse">
            <a:avLst/>
          </a:prstGeom>
          <a:solidFill>
            <a:schemeClr val="accent1"/>
          </a:solidFill>
          <a:ln w="12700">
            <a:solidFill>
              <a:schemeClr val="accent1"/>
            </a:solidFill>
            <a:prstDash val="solid"/>
          </a:ln>
        </p:spPr>
      </p:sp>
      <p:pic>
        <p:nvPicPr>
          <p:cNvPr id="26" name="Objective 2 icon" descr="preencoded.png">    </p:cNvPr>
          <p:cNvPicPr>
            <a:picLocks noChangeAspect="1"/>
          </p:cNvPicPr>
          <p:nvPr/>
        </p:nvPicPr>
        <p:blipFill>
          <a:blip r:embed="rId5"/>
          <a:stretch>
            <a:fillRect/>
          </a:stretch>
        </p:blipFill>
        <p:spPr>
          <a:xfrm>
            <a:off x="2633472" y="3941064"/>
            <a:ext cx="164592" cy="164592"/>
          </a:xfrm>
          <a:prstGeom prst="rect">
            <a:avLst/>
          </a:prstGeom>
        </p:spPr>
      </p:pic>
      <p:sp>
        <p:nvSpPr>
          <p:cNvPr id="27" name="Text 20"/>
          <p:cNvSpPr txBox="1"/>
          <p:nvPr/>
        </p:nvSpPr>
        <p:spPr>
          <a:xfrm>
            <a:off x="2962656" y="3813048"/>
            <a:ext cx="1600200" cy="457200"/>
          </a:xfrm>
          <a:prstGeom prst="rect">
            <a:avLst/>
          </a:prstGeom>
          <a:noFill/>
          <a:ln/>
        </p:spPr>
        <p:txBody>
          <a:bodyPr wrap="square" lIns="0" tIns="0" rIns="0" bIns="0" rtlCol="0" anchor="ctr"/>
          <a:lstStyle/>
          <a:p>
            <a:pPr indent="0" marL="0">
              <a:buNone/>
            </a:pPr>
            <a:r>
              <a:rPr lang="en-US" sz="1300" dirty="0">
                <a:solidFill>
                  <a:schemeClr val="tx2"/>
                </a:solidFill>
              </a:rPr>
              <a:t>Anyone can verify, instantly</a:t>
            </a:r>
            <a:endParaRPr lang="en-US" sz="1300" dirty="0"/>
          </a:p>
        </p:txBody>
      </p:sp>
      <p:sp>
        <p:nvSpPr>
          <p:cNvPr id="28" name="Objective 3 circle"/>
          <p:cNvSpPr/>
          <p:nvPr/>
        </p:nvSpPr>
        <p:spPr>
          <a:xfrm>
            <a:off x="4645152" y="3858768"/>
            <a:ext cx="329184" cy="329184"/>
          </a:xfrm>
          <a:prstGeom prst="ellipse">
            <a:avLst/>
          </a:prstGeom>
          <a:solidFill>
            <a:schemeClr val="accent1"/>
          </a:solidFill>
          <a:ln w="12700">
            <a:solidFill>
              <a:schemeClr val="accent1"/>
            </a:solidFill>
            <a:prstDash val="solid"/>
          </a:ln>
        </p:spPr>
      </p:sp>
      <p:pic>
        <p:nvPicPr>
          <p:cNvPr id="29" name="Objective 3 icon" descr="preencoded.png">    </p:cNvPr>
          <p:cNvPicPr>
            <a:picLocks noChangeAspect="1"/>
          </p:cNvPicPr>
          <p:nvPr/>
        </p:nvPicPr>
        <p:blipFill>
          <a:blip r:embed="rId6"/>
          <a:stretch>
            <a:fillRect/>
          </a:stretch>
        </p:blipFill>
        <p:spPr>
          <a:xfrm>
            <a:off x="4727448" y="3941064"/>
            <a:ext cx="164592" cy="164592"/>
          </a:xfrm>
          <a:prstGeom prst="rect">
            <a:avLst/>
          </a:prstGeom>
        </p:spPr>
      </p:pic>
      <p:sp>
        <p:nvSpPr>
          <p:cNvPr id="30" name="Text 22"/>
          <p:cNvSpPr txBox="1"/>
          <p:nvPr/>
        </p:nvSpPr>
        <p:spPr>
          <a:xfrm>
            <a:off x="5056632" y="3813048"/>
            <a:ext cx="1600200" cy="457200"/>
          </a:xfrm>
          <a:prstGeom prst="rect">
            <a:avLst/>
          </a:prstGeom>
          <a:noFill/>
          <a:ln/>
        </p:spPr>
        <p:txBody>
          <a:bodyPr wrap="square" lIns="0" tIns="0" rIns="0" bIns="0" rtlCol="0" anchor="ctr"/>
          <a:lstStyle/>
          <a:p>
            <a:pPr indent="0" marL="0">
              <a:buNone/>
            </a:pPr>
            <a:r>
              <a:rPr lang="en-US" sz="1300" dirty="0">
                <a:solidFill>
                  <a:schemeClr val="tx2"/>
                </a:solidFill>
              </a:rPr>
              <a:t>Detect any change to the PDF</a:t>
            </a:r>
            <a:endParaRPr lang="en-US" sz="1300" dirty="0"/>
          </a:p>
        </p:txBody>
      </p:sp>
      <p:sp>
        <p:nvSpPr>
          <p:cNvPr id="31" name="Objective 4 circle"/>
          <p:cNvSpPr/>
          <p:nvPr/>
        </p:nvSpPr>
        <p:spPr>
          <a:xfrm>
            <a:off x="6739128" y="3858768"/>
            <a:ext cx="329184" cy="329184"/>
          </a:xfrm>
          <a:prstGeom prst="ellipse">
            <a:avLst/>
          </a:prstGeom>
          <a:solidFill>
            <a:schemeClr val="accent1"/>
          </a:solidFill>
          <a:ln w="12700">
            <a:solidFill>
              <a:schemeClr val="accent1"/>
            </a:solidFill>
            <a:prstDash val="solid"/>
          </a:ln>
        </p:spPr>
      </p:sp>
      <p:pic>
        <p:nvPicPr>
          <p:cNvPr id="32" name="Objective 4 icon" descr="preencoded.png">    </p:cNvPr>
          <p:cNvPicPr>
            <a:picLocks noChangeAspect="1"/>
          </p:cNvPicPr>
          <p:nvPr/>
        </p:nvPicPr>
        <p:blipFill>
          <a:blip r:embed="rId7"/>
          <a:stretch>
            <a:fillRect/>
          </a:stretch>
        </p:blipFill>
        <p:spPr>
          <a:xfrm>
            <a:off x="6821424" y="3941064"/>
            <a:ext cx="164592" cy="164592"/>
          </a:xfrm>
          <a:prstGeom prst="rect">
            <a:avLst/>
          </a:prstGeom>
        </p:spPr>
      </p:pic>
      <p:sp>
        <p:nvSpPr>
          <p:cNvPr id="33" name="Text 24"/>
          <p:cNvSpPr txBox="1"/>
          <p:nvPr/>
        </p:nvSpPr>
        <p:spPr>
          <a:xfrm>
            <a:off x="7150608" y="3813048"/>
            <a:ext cx="1600200" cy="457200"/>
          </a:xfrm>
          <a:prstGeom prst="rect">
            <a:avLst/>
          </a:prstGeom>
          <a:noFill/>
          <a:ln/>
        </p:spPr>
        <p:txBody>
          <a:bodyPr wrap="square" lIns="0" tIns="0" rIns="0" bIns="0" rtlCol="0" anchor="ctr"/>
          <a:lstStyle/>
          <a:p>
            <a:pPr indent="0" marL="0">
              <a:buNone/>
            </a:pPr>
            <a:r>
              <a:rPr lang="en-US" sz="1300" dirty="0">
                <a:solidFill>
                  <a:schemeClr val="tx2"/>
                </a:solidFill>
              </a:rPr>
              <a:t>Show revocation status publicly</a:t>
            </a:r>
            <a:endParaRPr lang="en-US" sz="1300" dirty="0"/>
          </a:p>
        </p:txBody>
      </p:sp>
      <p:sp>
        <p:nvSpPr>
          <p:cNvPr id="34" name="Text 25"/>
          <p:cNvSpPr txBox="1"/>
          <p:nvPr/>
        </p:nvSpPr>
        <p:spPr>
          <a:xfrm>
            <a:off x="457200" y="4370832"/>
            <a:ext cx="8229600" cy="274320"/>
          </a:xfrm>
          <a:prstGeom prst="rect">
            <a:avLst/>
          </a:prstGeom>
          <a:noFill/>
          <a:ln/>
        </p:spPr>
        <p:txBody>
          <a:bodyPr wrap="square" lIns="0" tIns="0" rIns="0" bIns="0" rtlCol="0" anchor="t"/>
          <a:lstStyle/>
          <a:p>
            <a:pPr indent="0" marL="0">
              <a:buNone/>
            </a:pPr>
            <a:r>
              <a:rPr lang="en-US" sz="1200" dirty="0">
                <a:solidFill>
                  <a:schemeClr val="tx2"/>
                </a:solidFill>
              </a:rPr>
              <a:t>The PDF and student details are never stored on the blockchain — only the fingerprint.</a:t>
            </a:r>
            <a:endParaRPr lang="en-US" sz="12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System Architecture</a:t>
            </a:r>
            <a:endParaRPr lang="en-US" sz="3000" dirty="0"/>
          </a:p>
        </p:txBody>
      </p:sp>
      <p:sp>
        <p:nvSpPr>
          <p:cNvPr id="3" name="Frontend"/>
          <p:cNvSpPr/>
          <p:nvPr/>
        </p:nvSpPr>
        <p:spPr>
          <a:xfrm>
            <a:off x="457200" y="1097280"/>
            <a:ext cx="2514600" cy="868680"/>
          </a:xfrm>
          <a:prstGeom prst="roundRect">
            <a:avLst>
              <a:gd name="adj" fmla="val 8421"/>
            </a:avLst>
          </a:prstGeom>
          <a:solidFill>
            <a:schemeClr val="accent1"/>
          </a:solidFill>
          <a:ln w="12700">
            <a:solidFill>
              <a:schemeClr val="accent1"/>
            </a:solidFill>
            <a:prstDash val="solid"/>
          </a:ln>
        </p:spPr>
      </p:sp>
      <p:sp>
        <p:nvSpPr>
          <p:cNvPr id="4" name="Frontend circle"/>
          <p:cNvSpPr/>
          <p:nvPr/>
        </p:nvSpPr>
        <p:spPr>
          <a:xfrm>
            <a:off x="566928" y="1303020"/>
            <a:ext cx="457200" cy="457200"/>
          </a:xfrm>
          <a:prstGeom prst="ellipse">
            <a:avLst/>
          </a:prstGeom>
          <a:solidFill>
            <a:schemeClr val="accent2"/>
          </a:solidFill>
          <a:ln w="12700">
            <a:solidFill>
              <a:schemeClr val="accent2"/>
            </a:solidFill>
            <a:prstDash val="solid"/>
          </a:ln>
        </p:spPr>
      </p:sp>
      <p:pic>
        <p:nvPicPr>
          <p:cNvPr id="5" name="Frontend icon" descr="preencoded.png">    </p:cNvPr>
          <p:cNvPicPr>
            <a:picLocks noChangeAspect="1"/>
          </p:cNvPicPr>
          <p:nvPr/>
        </p:nvPicPr>
        <p:blipFill>
          <a:blip r:embed="rId1"/>
          <a:stretch>
            <a:fillRect/>
          </a:stretch>
        </p:blipFill>
        <p:spPr>
          <a:xfrm>
            <a:off x="681228" y="1417320"/>
            <a:ext cx="228600" cy="228600"/>
          </a:xfrm>
          <a:prstGeom prst="rect">
            <a:avLst/>
          </a:prstGeom>
        </p:spPr>
      </p:pic>
      <p:sp>
        <p:nvSpPr>
          <p:cNvPr id="6" name="Text 3"/>
          <p:cNvSpPr txBox="1"/>
          <p:nvPr/>
        </p:nvSpPr>
        <p:spPr>
          <a:xfrm>
            <a:off x="1115568" y="1188720"/>
            <a:ext cx="1783080" cy="292608"/>
          </a:xfrm>
          <a:prstGeom prst="rect">
            <a:avLst/>
          </a:prstGeom>
          <a:noFill/>
          <a:ln/>
        </p:spPr>
        <p:txBody>
          <a:bodyPr wrap="square" lIns="0" tIns="0" rIns="0" bIns="0" rtlCol="0" anchor="ctr"/>
          <a:lstStyle/>
          <a:p>
            <a:pPr indent="0" marL="0">
              <a:buNone/>
            </a:pPr>
            <a:r>
              <a:rPr lang="en-US" sz="1400" b="1" dirty="0">
                <a:solidFill>
                  <a:schemeClr val="bg1"/>
                </a:solidFill>
              </a:rPr>
              <a:t>Frontend</a:t>
            </a:r>
            <a:endParaRPr lang="en-US" sz="1400" dirty="0"/>
          </a:p>
        </p:txBody>
      </p:sp>
      <p:sp>
        <p:nvSpPr>
          <p:cNvPr id="7" name="Text 4"/>
          <p:cNvSpPr txBox="1"/>
          <p:nvPr/>
        </p:nvSpPr>
        <p:spPr>
          <a:xfrm>
            <a:off x="1115568" y="1481328"/>
            <a:ext cx="1783080" cy="411480"/>
          </a:xfrm>
          <a:prstGeom prst="rect">
            <a:avLst/>
          </a:prstGeom>
          <a:noFill/>
          <a:ln/>
        </p:spPr>
        <p:txBody>
          <a:bodyPr wrap="square" lIns="0" tIns="0" rIns="0" bIns="0" rtlCol="0" anchor="t"/>
          <a:lstStyle/>
          <a:p>
            <a:pPr indent="0" marL="0">
              <a:buNone/>
            </a:pPr>
            <a:r>
              <a:rPr lang="en-US" sz="1100" dirty="0">
                <a:solidFill>
                  <a:srgbClr val="E2E8F0"/>
                </a:solidFill>
              </a:rPr>
              <a:t>React + TypeScript + Vite (browser)</a:t>
            </a:r>
            <a:endParaRPr lang="en-US" sz="1100" dirty="0"/>
          </a:p>
        </p:txBody>
      </p:sp>
      <p:sp>
        <p:nvSpPr>
          <p:cNvPr id="8" name="Wallet"/>
          <p:cNvSpPr/>
          <p:nvPr/>
        </p:nvSpPr>
        <p:spPr>
          <a:xfrm>
            <a:off x="457200" y="3063240"/>
            <a:ext cx="2514600" cy="868680"/>
          </a:xfrm>
          <a:prstGeom prst="roundRect">
            <a:avLst>
              <a:gd name="adj" fmla="val 8421"/>
            </a:avLst>
          </a:prstGeom>
          <a:solidFill>
            <a:schemeClr val="accent1"/>
          </a:solidFill>
          <a:ln w="12700">
            <a:solidFill>
              <a:schemeClr val="accent1"/>
            </a:solidFill>
            <a:prstDash val="solid"/>
          </a:ln>
        </p:spPr>
      </p:sp>
      <p:sp>
        <p:nvSpPr>
          <p:cNvPr id="9" name="Wallet circle"/>
          <p:cNvSpPr/>
          <p:nvPr/>
        </p:nvSpPr>
        <p:spPr>
          <a:xfrm>
            <a:off x="566928" y="3268980"/>
            <a:ext cx="457200" cy="457200"/>
          </a:xfrm>
          <a:prstGeom prst="ellipse">
            <a:avLst/>
          </a:prstGeom>
          <a:solidFill>
            <a:schemeClr val="accent2"/>
          </a:solidFill>
          <a:ln w="12700">
            <a:solidFill>
              <a:schemeClr val="accent2"/>
            </a:solidFill>
            <a:prstDash val="solid"/>
          </a:ln>
        </p:spPr>
      </p:sp>
      <p:pic>
        <p:nvPicPr>
          <p:cNvPr id="10" name="Wallet icon" descr="preencoded.png">    </p:cNvPr>
          <p:cNvPicPr>
            <a:picLocks noChangeAspect="1"/>
          </p:cNvPicPr>
          <p:nvPr/>
        </p:nvPicPr>
        <p:blipFill>
          <a:blip r:embed="rId2"/>
          <a:stretch>
            <a:fillRect/>
          </a:stretch>
        </p:blipFill>
        <p:spPr>
          <a:xfrm>
            <a:off x="681228" y="3383280"/>
            <a:ext cx="228600" cy="228600"/>
          </a:xfrm>
          <a:prstGeom prst="rect">
            <a:avLst/>
          </a:prstGeom>
        </p:spPr>
      </p:pic>
      <p:sp>
        <p:nvSpPr>
          <p:cNvPr id="11" name="Text 7"/>
          <p:cNvSpPr txBox="1"/>
          <p:nvPr/>
        </p:nvSpPr>
        <p:spPr>
          <a:xfrm>
            <a:off x="1115568" y="3154680"/>
            <a:ext cx="1783080" cy="292608"/>
          </a:xfrm>
          <a:prstGeom prst="rect">
            <a:avLst/>
          </a:prstGeom>
          <a:noFill/>
          <a:ln/>
        </p:spPr>
        <p:txBody>
          <a:bodyPr wrap="square" lIns="0" tIns="0" rIns="0" bIns="0" rtlCol="0" anchor="ctr"/>
          <a:lstStyle/>
          <a:p>
            <a:pPr indent="0" marL="0">
              <a:buNone/>
            </a:pPr>
            <a:r>
              <a:rPr lang="en-US" sz="1400" b="1" dirty="0">
                <a:solidFill>
                  <a:schemeClr val="bg1"/>
                </a:solidFill>
              </a:rPr>
              <a:t>MetaMask wallet</a:t>
            </a:r>
            <a:endParaRPr lang="en-US" sz="1400" dirty="0"/>
          </a:p>
        </p:txBody>
      </p:sp>
      <p:sp>
        <p:nvSpPr>
          <p:cNvPr id="12" name="Text 8"/>
          <p:cNvSpPr txBox="1"/>
          <p:nvPr/>
        </p:nvSpPr>
        <p:spPr>
          <a:xfrm>
            <a:off x="1115568" y="3447288"/>
            <a:ext cx="1783080" cy="411480"/>
          </a:xfrm>
          <a:prstGeom prst="rect">
            <a:avLst/>
          </a:prstGeom>
          <a:noFill/>
          <a:ln/>
        </p:spPr>
        <p:txBody>
          <a:bodyPr wrap="square" lIns="0" tIns="0" rIns="0" bIns="0" rtlCol="0" anchor="t"/>
          <a:lstStyle/>
          <a:p>
            <a:pPr indent="0" marL="0">
              <a:buNone/>
            </a:pPr>
            <a:r>
              <a:rPr lang="en-US" sz="1100" dirty="0">
                <a:solidFill>
                  <a:srgbClr val="E2E8F0"/>
                </a:solidFill>
              </a:rPr>
              <a:t>Holds the private key; signs every transaction</a:t>
            </a:r>
            <a:endParaRPr lang="en-US" sz="1100" dirty="0"/>
          </a:p>
        </p:txBody>
      </p:sp>
      <p:sp>
        <p:nvSpPr>
          <p:cNvPr id="13" name="Backend"/>
          <p:cNvSpPr/>
          <p:nvPr/>
        </p:nvSpPr>
        <p:spPr>
          <a:xfrm>
            <a:off x="3520440" y="1097280"/>
            <a:ext cx="2514600" cy="1143000"/>
          </a:xfrm>
          <a:prstGeom prst="roundRect">
            <a:avLst>
              <a:gd name="adj" fmla="val 6400"/>
            </a:avLst>
          </a:prstGeom>
          <a:solidFill>
            <a:schemeClr val="tx1"/>
          </a:solidFill>
          <a:ln w="12700">
            <a:solidFill>
              <a:schemeClr val="tx1"/>
            </a:solidFill>
            <a:prstDash val="solid"/>
          </a:ln>
        </p:spPr>
      </p:sp>
      <p:sp>
        <p:nvSpPr>
          <p:cNvPr id="14" name="Backend circle"/>
          <p:cNvSpPr/>
          <p:nvPr/>
        </p:nvSpPr>
        <p:spPr>
          <a:xfrm>
            <a:off x="3630168" y="1440180"/>
            <a:ext cx="457200" cy="457200"/>
          </a:xfrm>
          <a:prstGeom prst="ellipse">
            <a:avLst/>
          </a:prstGeom>
          <a:solidFill>
            <a:schemeClr val="accent1"/>
          </a:solidFill>
          <a:ln w="12700">
            <a:solidFill>
              <a:schemeClr val="accent1"/>
            </a:solidFill>
            <a:prstDash val="solid"/>
          </a:ln>
        </p:spPr>
      </p:sp>
      <p:pic>
        <p:nvPicPr>
          <p:cNvPr id="15" name="Backend icon" descr="preencoded.png">    </p:cNvPr>
          <p:cNvPicPr>
            <a:picLocks noChangeAspect="1"/>
          </p:cNvPicPr>
          <p:nvPr/>
        </p:nvPicPr>
        <p:blipFill>
          <a:blip r:embed="rId3"/>
          <a:stretch>
            <a:fillRect/>
          </a:stretch>
        </p:blipFill>
        <p:spPr>
          <a:xfrm>
            <a:off x="3744468" y="1554480"/>
            <a:ext cx="228600" cy="228600"/>
          </a:xfrm>
          <a:prstGeom prst="rect">
            <a:avLst/>
          </a:prstGeom>
        </p:spPr>
      </p:pic>
      <p:sp>
        <p:nvSpPr>
          <p:cNvPr id="16" name="Text 11"/>
          <p:cNvSpPr txBox="1"/>
          <p:nvPr/>
        </p:nvSpPr>
        <p:spPr>
          <a:xfrm>
            <a:off x="4178808" y="1188720"/>
            <a:ext cx="1783080" cy="292608"/>
          </a:xfrm>
          <a:prstGeom prst="rect">
            <a:avLst/>
          </a:prstGeom>
          <a:noFill/>
          <a:ln/>
        </p:spPr>
        <p:txBody>
          <a:bodyPr wrap="square" lIns="0" tIns="0" rIns="0" bIns="0" rtlCol="0" anchor="ctr"/>
          <a:lstStyle/>
          <a:p>
            <a:pPr indent="0" marL="0">
              <a:buNone/>
            </a:pPr>
            <a:r>
              <a:rPr lang="en-US" sz="1400" b="1" dirty="0">
                <a:solidFill>
                  <a:schemeClr val="bg1"/>
                </a:solidFill>
              </a:rPr>
              <a:t>Backend API</a:t>
            </a:r>
            <a:endParaRPr lang="en-US" sz="1400" dirty="0"/>
          </a:p>
        </p:txBody>
      </p:sp>
      <p:sp>
        <p:nvSpPr>
          <p:cNvPr id="17" name="Text 12"/>
          <p:cNvSpPr txBox="1"/>
          <p:nvPr/>
        </p:nvSpPr>
        <p:spPr>
          <a:xfrm>
            <a:off x="4178808" y="1481328"/>
            <a:ext cx="1783080" cy="685800"/>
          </a:xfrm>
          <a:prstGeom prst="rect">
            <a:avLst/>
          </a:prstGeom>
          <a:noFill/>
          <a:ln/>
        </p:spPr>
        <p:txBody>
          <a:bodyPr wrap="square" lIns="0" tIns="0" rIns="0" bIns="0" rtlCol="0" anchor="t"/>
          <a:lstStyle/>
          <a:p>
            <a:pPr indent="0" marL="0">
              <a:buNone/>
            </a:pPr>
            <a:r>
              <a:rPr lang="en-US" sz="1100" dirty="0">
                <a:solidFill>
                  <a:srgbClr val="E2E8F0"/>
                </a:solidFill>
              </a:rPr>
              <a:t>Node.js + Express + TypeScript: SIWE login, SHA-256 hashing, prepares unsigned transactions</a:t>
            </a:r>
            <a:endParaRPr lang="en-US" sz="1100" dirty="0"/>
          </a:p>
        </p:txBody>
      </p:sp>
      <p:sp>
        <p:nvSpPr>
          <p:cNvPr id="18" name="MongoDB"/>
          <p:cNvSpPr/>
          <p:nvPr/>
        </p:nvSpPr>
        <p:spPr>
          <a:xfrm>
            <a:off x="6400800" y="1097280"/>
            <a:ext cx="2286000" cy="868680"/>
          </a:xfrm>
          <a:prstGeom prst="roundRect">
            <a:avLst>
              <a:gd name="adj" fmla="val 8421"/>
            </a:avLst>
          </a:prstGeom>
          <a:solidFill>
            <a:schemeClr val="accent2"/>
          </a:solidFill>
          <a:ln w="12700">
            <a:solidFill>
              <a:schemeClr val="accent2"/>
            </a:solidFill>
            <a:prstDash val="solid"/>
          </a:ln>
        </p:spPr>
      </p:sp>
      <p:sp>
        <p:nvSpPr>
          <p:cNvPr id="19" name="MongoDB circle"/>
          <p:cNvSpPr/>
          <p:nvPr/>
        </p:nvSpPr>
        <p:spPr>
          <a:xfrm>
            <a:off x="6510528" y="1303020"/>
            <a:ext cx="457200" cy="457200"/>
          </a:xfrm>
          <a:prstGeom prst="ellipse">
            <a:avLst/>
          </a:prstGeom>
          <a:solidFill>
            <a:schemeClr val="accent1"/>
          </a:solidFill>
          <a:ln w="12700">
            <a:solidFill>
              <a:schemeClr val="accent1"/>
            </a:solidFill>
            <a:prstDash val="solid"/>
          </a:ln>
        </p:spPr>
      </p:sp>
      <p:pic>
        <p:nvPicPr>
          <p:cNvPr id="20" name="MongoDB icon" descr="preencoded.png">    </p:cNvPr>
          <p:cNvPicPr>
            <a:picLocks noChangeAspect="1"/>
          </p:cNvPicPr>
          <p:nvPr/>
        </p:nvPicPr>
        <p:blipFill>
          <a:blip r:embed="rId4"/>
          <a:stretch>
            <a:fillRect/>
          </a:stretch>
        </p:blipFill>
        <p:spPr>
          <a:xfrm>
            <a:off x="6624828" y="1417320"/>
            <a:ext cx="228600" cy="228600"/>
          </a:xfrm>
          <a:prstGeom prst="rect">
            <a:avLst/>
          </a:prstGeom>
        </p:spPr>
      </p:pic>
      <p:sp>
        <p:nvSpPr>
          <p:cNvPr id="21" name="Text 15"/>
          <p:cNvSpPr txBox="1"/>
          <p:nvPr/>
        </p:nvSpPr>
        <p:spPr>
          <a:xfrm>
            <a:off x="7059168" y="1188720"/>
            <a:ext cx="1554480" cy="292608"/>
          </a:xfrm>
          <a:prstGeom prst="rect">
            <a:avLst/>
          </a:prstGeom>
          <a:noFill/>
          <a:ln/>
        </p:spPr>
        <p:txBody>
          <a:bodyPr wrap="square" lIns="0" tIns="0" rIns="0" bIns="0" rtlCol="0" anchor="ctr"/>
          <a:lstStyle/>
          <a:p>
            <a:pPr indent="0" marL="0">
              <a:buNone/>
            </a:pPr>
            <a:r>
              <a:rPr lang="en-US" sz="1400" b="1" dirty="0">
                <a:solidFill>
                  <a:schemeClr val="bg1"/>
                </a:solidFill>
              </a:rPr>
              <a:t>MongoDB</a:t>
            </a:r>
            <a:endParaRPr lang="en-US" sz="1400" dirty="0"/>
          </a:p>
        </p:txBody>
      </p:sp>
      <p:sp>
        <p:nvSpPr>
          <p:cNvPr id="22" name="Text 16"/>
          <p:cNvSpPr txBox="1"/>
          <p:nvPr/>
        </p:nvSpPr>
        <p:spPr>
          <a:xfrm>
            <a:off x="7059168" y="1481328"/>
            <a:ext cx="1554480" cy="411480"/>
          </a:xfrm>
          <a:prstGeom prst="rect">
            <a:avLst/>
          </a:prstGeom>
          <a:noFill/>
          <a:ln/>
        </p:spPr>
        <p:txBody>
          <a:bodyPr wrap="square" lIns="0" tIns="0" rIns="0" bIns="0" rtlCol="0" anchor="t"/>
          <a:lstStyle/>
          <a:p>
            <a:pPr indent="0" marL="0">
              <a:buNone/>
            </a:pPr>
            <a:r>
              <a:rPr lang="en-US" sz="1100" dirty="0">
                <a:solidFill>
                  <a:srgbClr val="E2E8F0"/>
                </a:solidFill>
              </a:rPr>
              <a:t>Off-chain drafts, sessions, metadata, event history</a:t>
            </a:r>
            <a:endParaRPr lang="en-US" sz="1100" dirty="0"/>
          </a:p>
        </p:txBody>
      </p:sp>
      <p:sp>
        <p:nvSpPr>
          <p:cNvPr id="23" name="Contract"/>
          <p:cNvSpPr/>
          <p:nvPr/>
        </p:nvSpPr>
        <p:spPr>
          <a:xfrm>
            <a:off x="6400800" y="3063240"/>
            <a:ext cx="2286000" cy="868680"/>
          </a:xfrm>
          <a:prstGeom prst="roundRect">
            <a:avLst>
              <a:gd name="adj" fmla="val 8421"/>
            </a:avLst>
          </a:prstGeom>
          <a:solidFill>
            <a:schemeClr val="tx1"/>
          </a:solidFill>
          <a:ln w="12700">
            <a:solidFill>
              <a:schemeClr val="tx1"/>
            </a:solidFill>
            <a:prstDash val="solid"/>
          </a:ln>
        </p:spPr>
      </p:sp>
      <p:sp>
        <p:nvSpPr>
          <p:cNvPr id="24" name="Contract circle"/>
          <p:cNvSpPr/>
          <p:nvPr/>
        </p:nvSpPr>
        <p:spPr>
          <a:xfrm>
            <a:off x="6510528" y="3268980"/>
            <a:ext cx="457200" cy="457200"/>
          </a:xfrm>
          <a:prstGeom prst="ellipse">
            <a:avLst/>
          </a:prstGeom>
          <a:solidFill>
            <a:schemeClr val="accent1"/>
          </a:solidFill>
          <a:ln w="12700">
            <a:solidFill>
              <a:schemeClr val="accent1"/>
            </a:solidFill>
            <a:prstDash val="solid"/>
          </a:ln>
        </p:spPr>
      </p:sp>
      <p:pic>
        <p:nvPicPr>
          <p:cNvPr id="25" name="Contract icon" descr="preencoded.png">    </p:cNvPr>
          <p:cNvPicPr>
            <a:picLocks noChangeAspect="1"/>
          </p:cNvPicPr>
          <p:nvPr/>
        </p:nvPicPr>
        <p:blipFill>
          <a:blip r:embed="rId5"/>
          <a:stretch>
            <a:fillRect/>
          </a:stretch>
        </p:blipFill>
        <p:spPr>
          <a:xfrm>
            <a:off x="6624828" y="3383280"/>
            <a:ext cx="228600" cy="228600"/>
          </a:xfrm>
          <a:prstGeom prst="rect">
            <a:avLst/>
          </a:prstGeom>
        </p:spPr>
      </p:pic>
      <p:sp>
        <p:nvSpPr>
          <p:cNvPr id="26" name="Text 19"/>
          <p:cNvSpPr txBox="1"/>
          <p:nvPr/>
        </p:nvSpPr>
        <p:spPr>
          <a:xfrm>
            <a:off x="7059168" y="3154680"/>
            <a:ext cx="1554480" cy="292608"/>
          </a:xfrm>
          <a:prstGeom prst="rect">
            <a:avLst/>
          </a:prstGeom>
          <a:noFill/>
          <a:ln/>
        </p:spPr>
        <p:txBody>
          <a:bodyPr wrap="square" lIns="0" tIns="0" rIns="0" bIns="0" rtlCol="0" anchor="ctr"/>
          <a:lstStyle/>
          <a:p>
            <a:pPr indent="0" marL="0">
              <a:buNone/>
            </a:pPr>
            <a:r>
              <a:rPr lang="en-US" sz="1400" b="1" dirty="0">
                <a:solidFill>
                  <a:schemeClr val="bg1"/>
                </a:solidFill>
              </a:rPr>
              <a:t>Smart contract</a:t>
            </a:r>
            <a:endParaRPr lang="en-US" sz="1400" dirty="0"/>
          </a:p>
        </p:txBody>
      </p:sp>
      <p:sp>
        <p:nvSpPr>
          <p:cNvPr id="27" name="Text 20"/>
          <p:cNvSpPr txBox="1"/>
          <p:nvPr/>
        </p:nvSpPr>
        <p:spPr>
          <a:xfrm>
            <a:off x="7059168" y="3447288"/>
            <a:ext cx="1554480" cy="411480"/>
          </a:xfrm>
          <a:prstGeom prst="rect">
            <a:avLst/>
          </a:prstGeom>
          <a:noFill/>
          <a:ln/>
        </p:spPr>
        <p:txBody>
          <a:bodyPr wrap="square" lIns="0" tIns="0" rIns="0" bIns="0" rtlCol="0" anchor="t"/>
          <a:lstStyle/>
          <a:p>
            <a:pPr indent="0" marL="0">
              <a:buNone/>
            </a:pPr>
            <a:r>
              <a:rPr lang="en-US" sz="1100" dirty="0">
                <a:solidFill>
                  <a:srgbClr val="E2E8F0"/>
                </a:solidFill>
              </a:rPr>
              <a:t>Solidity CertificateRegistry on Anvil (local chain 31337)</a:t>
            </a:r>
            <a:endParaRPr lang="en-US" sz="1100" dirty="0"/>
          </a:p>
        </p:txBody>
      </p:sp>
      <p:sp>
        <p:nvSpPr>
          <p:cNvPr id="28" name="Frontend to backend"/>
          <p:cNvSpPr/>
          <p:nvPr/>
        </p:nvSpPr>
        <p:spPr>
          <a:xfrm>
            <a:off x="2990088" y="1481328"/>
            <a:ext cx="512064" cy="0"/>
          </a:xfrm>
          <a:prstGeom prst="line">
            <a:avLst/>
          </a:prstGeom>
          <a:noFill/>
          <a:ln w="25400">
            <a:solidFill>
              <a:schemeClr val="accent1"/>
            </a:solidFill>
            <a:prstDash val="solid"/>
            <a:headEnd type="triangle"/>
            <a:tailEnd type="triangle"/>
          </a:ln>
        </p:spPr>
      </p:sp>
      <p:sp>
        <p:nvSpPr>
          <p:cNvPr id="29" name="Text 22"/>
          <p:cNvSpPr txBox="1"/>
          <p:nvPr/>
        </p:nvSpPr>
        <p:spPr>
          <a:xfrm>
            <a:off x="2990088" y="1188720"/>
            <a:ext cx="512064" cy="237744"/>
          </a:xfrm>
          <a:prstGeom prst="rect">
            <a:avLst/>
          </a:prstGeom>
          <a:noFill/>
          <a:ln/>
        </p:spPr>
        <p:txBody>
          <a:bodyPr wrap="square" lIns="0" tIns="0" rIns="0" bIns="0" rtlCol="0" anchor="t"/>
          <a:lstStyle/>
          <a:p>
            <a:pPr algn="ctr" indent="0" marL="0">
              <a:buNone/>
            </a:pPr>
            <a:r>
              <a:rPr lang="en-US" sz="1000" dirty="0">
                <a:solidFill>
                  <a:schemeClr val="tx2"/>
                </a:solidFill>
              </a:rPr>
              <a:t>REST</a:t>
            </a:r>
            <a:endParaRPr lang="en-US" sz="1000" dirty="0"/>
          </a:p>
        </p:txBody>
      </p:sp>
      <p:sp>
        <p:nvSpPr>
          <p:cNvPr id="30" name="Frontend to wallet"/>
          <p:cNvSpPr/>
          <p:nvPr/>
        </p:nvSpPr>
        <p:spPr>
          <a:xfrm>
            <a:off x="1714500" y="1984248"/>
            <a:ext cx="0" cy="1060704"/>
          </a:xfrm>
          <a:prstGeom prst="line">
            <a:avLst/>
          </a:prstGeom>
          <a:noFill/>
          <a:ln w="25400">
            <a:solidFill>
              <a:schemeClr val="accent1"/>
            </a:solidFill>
            <a:prstDash val="solid"/>
            <a:headEnd type="triangle"/>
            <a:tailEnd type="triangle"/>
          </a:ln>
        </p:spPr>
      </p:sp>
      <p:sp>
        <p:nvSpPr>
          <p:cNvPr id="31" name="Text 24"/>
          <p:cNvSpPr txBox="1"/>
          <p:nvPr/>
        </p:nvSpPr>
        <p:spPr>
          <a:xfrm>
            <a:off x="1783080" y="2377440"/>
            <a:ext cx="1280160" cy="365760"/>
          </a:xfrm>
          <a:prstGeom prst="rect">
            <a:avLst/>
          </a:prstGeom>
          <a:noFill/>
          <a:ln/>
        </p:spPr>
        <p:txBody>
          <a:bodyPr wrap="square" lIns="0" tIns="0" rIns="0" bIns="0" rtlCol="0" anchor="t"/>
          <a:lstStyle/>
          <a:p>
            <a:pPr indent="0" marL="0">
              <a:buNone/>
            </a:pPr>
            <a:r>
              <a:rPr lang="en-US" sz="1000" dirty="0">
                <a:solidFill>
                  <a:schemeClr val="tx2"/>
                </a:solidFill>
              </a:rPr>
              <a:t>sign-in &amp; tx approval</a:t>
            </a:r>
            <a:endParaRPr lang="en-US" sz="1000" dirty="0"/>
          </a:p>
        </p:txBody>
      </p:sp>
      <p:sp>
        <p:nvSpPr>
          <p:cNvPr id="32" name="Wallet to contract"/>
          <p:cNvSpPr/>
          <p:nvPr/>
        </p:nvSpPr>
        <p:spPr>
          <a:xfrm>
            <a:off x="2990088" y="3493008"/>
            <a:ext cx="3392424" cy="0"/>
          </a:xfrm>
          <a:prstGeom prst="line">
            <a:avLst/>
          </a:prstGeom>
          <a:noFill/>
          <a:ln w="25400">
            <a:solidFill>
              <a:schemeClr val="accent1"/>
            </a:solidFill>
            <a:prstDash val="solid"/>
            <a:tailEnd type="triangle"/>
          </a:ln>
        </p:spPr>
      </p:sp>
      <p:sp>
        <p:nvSpPr>
          <p:cNvPr id="33" name="Text 26"/>
          <p:cNvSpPr txBox="1"/>
          <p:nvPr/>
        </p:nvSpPr>
        <p:spPr>
          <a:xfrm>
            <a:off x="3291840" y="3182112"/>
            <a:ext cx="2926080" cy="274320"/>
          </a:xfrm>
          <a:prstGeom prst="rect">
            <a:avLst/>
          </a:prstGeom>
          <a:noFill/>
          <a:ln/>
        </p:spPr>
        <p:txBody>
          <a:bodyPr wrap="square" lIns="0" tIns="0" rIns="0" bIns="0" rtlCol="0" anchor="t"/>
          <a:lstStyle/>
          <a:p>
            <a:pPr algn="ctr" indent="0" marL="0">
              <a:buNone/>
            </a:pPr>
            <a:r>
              <a:rPr lang="en-US" sz="1100" b="1" dirty="0">
                <a:solidFill>
                  <a:schemeClr val="accent1"/>
                </a:solidFill>
              </a:rPr>
              <a:t>Signed transaction sent by the wallet</a:t>
            </a:r>
            <a:endParaRPr lang="en-US" sz="1100" dirty="0"/>
          </a:p>
        </p:txBody>
      </p:sp>
      <p:sp>
        <p:nvSpPr>
          <p:cNvPr id="34" name="Backend to MongoDB"/>
          <p:cNvSpPr/>
          <p:nvPr/>
        </p:nvSpPr>
        <p:spPr>
          <a:xfrm>
            <a:off x="6053328" y="1481328"/>
            <a:ext cx="329184" cy="0"/>
          </a:xfrm>
          <a:prstGeom prst="line">
            <a:avLst/>
          </a:prstGeom>
          <a:noFill/>
          <a:ln w="25400">
            <a:solidFill>
              <a:schemeClr val="accent1"/>
            </a:solidFill>
            <a:prstDash val="solid"/>
            <a:headEnd type="triangle"/>
            <a:tailEnd type="triangle"/>
          </a:ln>
        </p:spPr>
      </p:sp>
      <p:sp>
        <p:nvSpPr>
          <p:cNvPr id="35" name="Backend reads contract"/>
          <p:cNvSpPr/>
          <p:nvPr/>
        </p:nvSpPr>
        <p:spPr>
          <a:xfrm>
            <a:off x="5349240" y="2258568"/>
            <a:ext cx="1417320" cy="786384"/>
          </a:xfrm>
          <a:prstGeom prst="line">
            <a:avLst/>
          </a:prstGeom>
          <a:noFill/>
          <a:ln w="25400">
            <a:solidFill>
              <a:schemeClr val="accent2"/>
            </a:solidFill>
            <a:prstDash val="solid"/>
            <a:tailEnd type="triangle"/>
          </a:ln>
        </p:spPr>
      </p:sp>
      <p:sp>
        <p:nvSpPr>
          <p:cNvPr id="36" name="Text 29"/>
          <p:cNvSpPr txBox="1"/>
          <p:nvPr/>
        </p:nvSpPr>
        <p:spPr>
          <a:xfrm>
            <a:off x="3566160" y="2468880"/>
            <a:ext cx="1828800" cy="274320"/>
          </a:xfrm>
          <a:prstGeom prst="rect">
            <a:avLst/>
          </a:prstGeom>
          <a:noFill/>
          <a:ln/>
        </p:spPr>
        <p:txBody>
          <a:bodyPr wrap="square" lIns="0" tIns="0" rIns="0" bIns="0" rtlCol="0" anchor="t"/>
          <a:lstStyle/>
          <a:p>
            <a:pPr algn="r" indent="0" marL="0">
              <a:buNone/>
            </a:pPr>
            <a:r>
              <a:rPr lang="en-US" sz="1000" dirty="0">
                <a:solidFill>
                  <a:schemeClr val="tx2"/>
                </a:solidFill>
              </a:rPr>
              <a:t>read-only RPC: simulate &amp; verify</a:t>
            </a:r>
            <a:endParaRPr lang="en-US" sz="1000" dirty="0"/>
          </a:p>
        </p:txBody>
      </p:sp>
      <p:sp>
        <p:nvSpPr>
          <p:cNvPr id="37" name="Key point card"/>
          <p:cNvSpPr/>
          <p:nvPr/>
        </p:nvSpPr>
        <p:spPr>
          <a:xfrm>
            <a:off x="457200" y="4114800"/>
            <a:ext cx="8229600" cy="566928"/>
          </a:xfrm>
          <a:prstGeom prst="roundRect">
            <a:avLst>
              <a:gd name="adj" fmla="val 12903"/>
            </a:avLst>
          </a:prstGeom>
          <a:solidFill>
            <a:srgbClr val="E6FFFA"/>
          </a:solidFill>
          <a:ln w="12700">
            <a:solidFill>
              <a:schemeClr val="accent1"/>
            </a:solidFill>
            <a:prstDash val="solid"/>
          </a:ln>
        </p:spPr>
      </p:sp>
      <p:sp>
        <p:nvSpPr>
          <p:cNvPr id="38" name="Key point circle"/>
          <p:cNvSpPr/>
          <p:nvPr/>
        </p:nvSpPr>
        <p:spPr>
          <a:xfrm>
            <a:off x="566928" y="4169664"/>
            <a:ext cx="457200" cy="457200"/>
          </a:xfrm>
          <a:prstGeom prst="ellipse">
            <a:avLst/>
          </a:prstGeom>
          <a:solidFill>
            <a:schemeClr val="accent1"/>
          </a:solidFill>
          <a:ln w="12700">
            <a:solidFill>
              <a:schemeClr val="accent1"/>
            </a:solidFill>
            <a:prstDash val="solid"/>
          </a:ln>
        </p:spPr>
      </p:sp>
      <p:pic>
        <p:nvPicPr>
          <p:cNvPr id="39" name="Key point icon" descr="preencoded.png">    </p:cNvPr>
          <p:cNvPicPr>
            <a:picLocks noChangeAspect="1"/>
          </p:cNvPicPr>
          <p:nvPr/>
        </p:nvPicPr>
        <p:blipFill>
          <a:blip r:embed="rId6"/>
          <a:stretch>
            <a:fillRect/>
          </a:stretch>
        </p:blipFill>
        <p:spPr>
          <a:xfrm>
            <a:off x="681228" y="4283964"/>
            <a:ext cx="228600" cy="228600"/>
          </a:xfrm>
          <a:prstGeom prst="rect">
            <a:avLst/>
          </a:prstGeom>
        </p:spPr>
      </p:pic>
      <p:sp>
        <p:nvSpPr>
          <p:cNvPr id="40" name="Text 32"/>
          <p:cNvSpPr txBox="1"/>
          <p:nvPr/>
        </p:nvSpPr>
        <p:spPr>
          <a:xfrm>
            <a:off x="1143000" y="4142232"/>
            <a:ext cx="7452360" cy="512064"/>
          </a:xfrm>
          <a:prstGeom prst="rect">
            <a:avLst/>
          </a:prstGeom>
          <a:noFill/>
          <a:ln/>
        </p:spPr>
        <p:txBody>
          <a:bodyPr wrap="square" lIns="0" tIns="0" rIns="0" bIns="0" rtlCol="0" anchor="ctr"/>
          <a:lstStyle/>
          <a:p>
            <a:pPr indent="0" marL="0">
              <a:buNone/>
            </a:pPr>
            <a:r>
              <a:rPr lang="en-US" sz="1300" b="1" dirty="0">
                <a:solidFill>
                  <a:schemeClr val="tx1"/>
                </a:solidFill>
              </a:rPr>
              <a:t>Non-custodial: </a:t>
            </a:r>
            <a:pPr indent="0" marL="0">
              <a:buNone/>
            </a:pPr>
            <a:r>
              <a:rPr lang="en-US" sz="1300" dirty="0">
                <a:solidFill>
                  <a:schemeClr val="tx2"/>
                </a:solidFill>
              </a:rPr>
              <a:t>the backend holds no private keys and never sends issuance or revocation transactions. Only the user's wallet signs them.</a:t>
            </a:r>
            <a:endParaRPr lang="en-US" sz="13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Technologies and Key Features</a:t>
            </a:r>
            <a:endParaRPr lang="en-US" sz="3000" dirty="0"/>
          </a:p>
        </p:txBody>
      </p:sp>
      <p:sp>
        <p:nvSpPr>
          <p:cNvPr id="3" name="Technology panel"/>
          <p:cNvSpPr/>
          <p:nvPr/>
        </p:nvSpPr>
        <p:spPr>
          <a:xfrm>
            <a:off x="457200" y="1051560"/>
            <a:ext cx="3291840" cy="3566160"/>
          </a:xfrm>
          <a:prstGeom prst="roundRect">
            <a:avLst>
              <a:gd name="adj" fmla="val 2222"/>
            </a:avLst>
          </a:prstGeom>
          <a:solidFill>
            <a:schemeClr val="tx1"/>
          </a:solidFill>
          <a:ln w="12700">
            <a:solidFill>
              <a:schemeClr val="tx1"/>
            </a:solidFill>
            <a:prstDash val="solid"/>
          </a:ln>
        </p:spPr>
      </p:sp>
      <p:sp>
        <p:nvSpPr>
          <p:cNvPr id="4" name="Text 2"/>
          <p:cNvSpPr txBox="1"/>
          <p:nvPr/>
        </p:nvSpPr>
        <p:spPr>
          <a:xfrm>
            <a:off x="685800" y="1188720"/>
            <a:ext cx="2834640" cy="320040"/>
          </a:xfrm>
          <a:prstGeom prst="rect">
            <a:avLst/>
          </a:prstGeom>
          <a:noFill/>
          <a:ln/>
        </p:spPr>
        <p:txBody>
          <a:bodyPr wrap="square" lIns="0" tIns="0" rIns="0" bIns="0" rtlCol="0" anchor="t"/>
          <a:lstStyle/>
          <a:p>
            <a:pPr indent="0" marL="0">
              <a:buNone/>
            </a:pPr>
            <a:r>
              <a:rPr lang="en-US" sz="1600" b="1" dirty="0">
                <a:solidFill>
                  <a:schemeClr val="accent6"/>
                </a:solidFill>
              </a:rPr>
              <a:t>Technologies</a:t>
            </a:r>
            <a:endParaRPr lang="en-US" sz="1600" dirty="0"/>
          </a:p>
        </p:txBody>
      </p:sp>
      <p:sp>
        <p:nvSpPr>
          <p:cNvPr id="5" name="Text 3"/>
          <p:cNvSpPr txBox="1"/>
          <p:nvPr/>
        </p:nvSpPr>
        <p:spPr>
          <a:xfrm>
            <a:off x="685800" y="1627632"/>
            <a:ext cx="2834640" cy="256032"/>
          </a:xfrm>
          <a:prstGeom prst="rect">
            <a:avLst/>
          </a:prstGeom>
          <a:noFill/>
          <a:ln/>
        </p:spPr>
        <p:txBody>
          <a:bodyPr wrap="square" lIns="0" tIns="0" rIns="0" bIns="0" rtlCol="0" anchor="t"/>
          <a:lstStyle/>
          <a:p>
            <a:pPr indent="0" marL="0">
              <a:buNone/>
            </a:pPr>
            <a:r>
              <a:rPr lang="en-US" sz="1400" b="1" dirty="0">
                <a:solidFill>
                  <a:schemeClr val="bg1"/>
                </a:solidFill>
              </a:rPr>
              <a:t>Blockchain</a:t>
            </a:r>
            <a:endParaRPr lang="en-US" sz="1400" dirty="0"/>
          </a:p>
        </p:txBody>
      </p:sp>
      <p:sp>
        <p:nvSpPr>
          <p:cNvPr id="6" name="Text 4"/>
          <p:cNvSpPr txBox="1"/>
          <p:nvPr/>
        </p:nvSpPr>
        <p:spPr>
          <a:xfrm>
            <a:off x="685800" y="1883664"/>
            <a:ext cx="2880360" cy="411480"/>
          </a:xfrm>
          <a:prstGeom prst="rect">
            <a:avLst/>
          </a:prstGeom>
          <a:noFill/>
          <a:ln/>
        </p:spPr>
        <p:txBody>
          <a:bodyPr wrap="square" lIns="0" tIns="0" rIns="0" bIns="0" rtlCol="0" anchor="t"/>
          <a:lstStyle/>
          <a:p>
            <a:pPr indent="0" marL="0">
              <a:buNone/>
            </a:pPr>
            <a:r>
              <a:rPr lang="en-US" sz="1200" dirty="0">
                <a:solidFill>
                  <a:srgbClr val="CBD5E1"/>
                </a:solidFill>
              </a:rPr>
              <a:t>Solidity 0.8.30 · Foundry · OpenZeppelin AccessControl · Anvil</a:t>
            </a:r>
            <a:endParaRPr lang="en-US" sz="1200" dirty="0"/>
          </a:p>
        </p:txBody>
      </p:sp>
      <p:sp>
        <p:nvSpPr>
          <p:cNvPr id="7" name="Text 5"/>
          <p:cNvSpPr txBox="1"/>
          <p:nvPr/>
        </p:nvSpPr>
        <p:spPr>
          <a:xfrm>
            <a:off x="685800" y="2359152"/>
            <a:ext cx="2834640" cy="256032"/>
          </a:xfrm>
          <a:prstGeom prst="rect">
            <a:avLst/>
          </a:prstGeom>
          <a:noFill/>
          <a:ln/>
        </p:spPr>
        <p:txBody>
          <a:bodyPr wrap="square" lIns="0" tIns="0" rIns="0" bIns="0" rtlCol="0" anchor="t"/>
          <a:lstStyle/>
          <a:p>
            <a:pPr indent="0" marL="0">
              <a:buNone/>
            </a:pPr>
            <a:r>
              <a:rPr lang="en-US" sz="1400" b="1" dirty="0">
                <a:solidFill>
                  <a:schemeClr val="bg1"/>
                </a:solidFill>
              </a:rPr>
              <a:t>Backend</a:t>
            </a:r>
            <a:endParaRPr lang="en-US" sz="1400" dirty="0"/>
          </a:p>
        </p:txBody>
      </p:sp>
      <p:sp>
        <p:nvSpPr>
          <p:cNvPr id="8" name="Text 6"/>
          <p:cNvSpPr txBox="1"/>
          <p:nvPr/>
        </p:nvSpPr>
        <p:spPr>
          <a:xfrm>
            <a:off x="685800" y="2615184"/>
            <a:ext cx="2880360" cy="411480"/>
          </a:xfrm>
          <a:prstGeom prst="rect">
            <a:avLst/>
          </a:prstGeom>
          <a:noFill/>
          <a:ln/>
        </p:spPr>
        <p:txBody>
          <a:bodyPr wrap="square" lIns="0" tIns="0" rIns="0" bIns="0" rtlCol="0" anchor="t"/>
          <a:lstStyle/>
          <a:p>
            <a:pPr indent="0" marL="0">
              <a:buNone/>
            </a:pPr>
            <a:r>
              <a:rPr lang="en-US" sz="1200" dirty="0">
                <a:solidFill>
                  <a:srgbClr val="CBD5E1"/>
                </a:solidFill>
              </a:rPr>
              <a:t>Node.js · Express · TypeScript · ethers.js v6 · Mongoose</a:t>
            </a:r>
            <a:endParaRPr lang="en-US" sz="1200" dirty="0"/>
          </a:p>
        </p:txBody>
      </p:sp>
      <p:sp>
        <p:nvSpPr>
          <p:cNvPr id="9" name="Text 7"/>
          <p:cNvSpPr txBox="1"/>
          <p:nvPr/>
        </p:nvSpPr>
        <p:spPr>
          <a:xfrm>
            <a:off x="685800" y="3090672"/>
            <a:ext cx="2834640" cy="256032"/>
          </a:xfrm>
          <a:prstGeom prst="rect">
            <a:avLst/>
          </a:prstGeom>
          <a:noFill/>
          <a:ln/>
        </p:spPr>
        <p:txBody>
          <a:bodyPr wrap="square" lIns="0" tIns="0" rIns="0" bIns="0" rtlCol="0" anchor="t"/>
          <a:lstStyle/>
          <a:p>
            <a:pPr indent="0" marL="0">
              <a:buNone/>
            </a:pPr>
            <a:r>
              <a:rPr lang="en-US" sz="1400" b="1" dirty="0">
                <a:solidFill>
                  <a:schemeClr val="bg1"/>
                </a:solidFill>
              </a:rPr>
              <a:t>Frontend</a:t>
            </a:r>
            <a:endParaRPr lang="en-US" sz="1400" dirty="0"/>
          </a:p>
        </p:txBody>
      </p:sp>
      <p:sp>
        <p:nvSpPr>
          <p:cNvPr id="10" name="Text 8"/>
          <p:cNvSpPr txBox="1"/>
          <p:nvPr/>
        </p:nvSpPr>
        <p:spPr>
          <a:xfrm>
            <a:off x="685800" y="3346704"/>
            <a:ext cx="2880360" cy="411480"/>
          </a:xfrm>
          <a:prstGeom prst="rect">
            <a:avLst/>
          </a:prstGeom>
          <a:noFill/>
          <a:ln/>
        </p:spPr>
        <p:txBody>
          <a:bodyPr wrap="square" lIns="0" tIns="0" rIns="0" bIns="0" rtlCol="0" anchor="t"/>
          <a:lstStyle/>
          <a:p>
            <a:pPr indent="0" marL="0">
              <a:buNone/>
            </a:pPr>
            <a:r>
              <a:rPr lang="en-US" sz="1200" dirty="0">
                <a:solidFill>
                  <a:srgbClr val="CBD5E1"/>
                </a:solidFill>
              </a:rPr>
              <a:t>React · TypeScript · Vite · Tailwind CSS · ethers.js</a:t>
            </a:r>
            <a:endParaRPr lang="en-US" sz="1200" dirty="0"/>
          </a:p>
        </p:txBody>
      </p:sp>
      <p:sp>
        <p:nvSpPr>
          <p:cNvPr id="11" name="Text 9"/>
          <p:cNvSpPr txBox="1"/>
          <p:nvPr/>
        </p:nvSpPr>
        <p:spPr>
          <a:xfrm>
            <a:off x="685800" y="3822192"/>
            <a:ext cx="2834640" cy="256032"/>
          </a:xfrm>
          <a:prstGeom prst="rect">
            <a:avLst/>
          </a:prstGeom>
          <a:noFill/>
          <a:ln/>
        </p:spPr>
        <p:txBody>
          <a:bodyPr wrap="square" lIns="0" tIns="0" rIns="0" bIns="0" rtlCol="0" anchor="t"/>
          <a:lstStyle/>
          <a:p>
            <a:pPr indent="0" marL="0">
              <a:buNone/>
            </a:pPr>
            <a:r>
              <a:rPr lang="en-US" sz="1400" b="1" dirty="0">
                <a:solidFill>
                  <a:schemeClr val="bg1"/>
                </a:solidFill>
              </a:rPr>
              <a:t>Security</a:t>
            </a:r>
            <a:endParaRPr lang="en-US" sz="1400" dirty="0"/>
          </a:p>
        </p:txBody>
      </p:sp>
      <p:sp>
        <p:nvSpPr>
          <p:cNvPr id="12" name="Text 10"/>
          <p:cNvSpPr txBox="1"/>
          <p:nvPr/>
        </p:nvSpPr>
        <p:spPr>
          <a:xfrm>
            <a:off x="685800" y="4078224"/>
            <a:ext cx="2880360" cy="411480"/>
          </a:xfrm>
          <a:prstGeom prst="rect">
            <a:avLst/>
          </a:prstGeom>
          <a:noFill/>
          <a:ln/>
        </p:spPr>
        <p:txBody>
          <a:bodyPr wrap="square" lIns="0" tIns="0" rIns="0" bIns="0" rtlCol="0" anchor="t"/>
          <a:lstStyle/>
          <a:p>
            <a:pPr indent="0" marL="0">
              <a:buNone/>
            </a:pPr>
            <a:r>
              <a:rPr lang="en-US" sz="1200" dirty="0">
                <a:solidFill>
                  <a:srgbClr val="CBD5E1"/>
                </a:solidFill>
              </a:rPr>
              <a:t>SIWE (EIP-4361) · SHA-256 · CSRF tokens · rate limiting</a:t>
            </a:r>
            <a:endParaRPr lang="en-US" sz="1200" dirty="0"/>
          </a:p>
        </p:txBody>
      </p:sp>
      <p:sp>
        <p:nvSpPr>
          <p:cNvPr id="13" name="Feature 1 card"/>
          <p:cNvSpPr/>
          <p:nvPr/>
        </p:nvSpPr>
        <p:spPr>
          <a:xfrm>
            <a:off x="4023360" y="1051560"/>
            <a:ext cx="2240280" cy="1078992"/>
          </a:xfrm>
          <a:prstGeom prst="roundRect">
            <a:avLst>
              <a:gd name="adj" fmla="val 6780"/>
            </a:avLst>
          </a:prstGeom>
          <a:solidFill>
            <a:schemeClr val="bg2"/>
          </a:solidFill>
          <a:ln w="12700">
            <a:solidFill>
              <a:schemeClr val="bg2"/>
            </a:solidFill>
            <a:prstDash val="solid"/>
          </a:ln>
        </p:spPr>
      </p:sp>
      <p:sp>
        <p:nvSpPr>
          <p:cNvPr id="14" name="Feature 1 circle"/>
          <p:cNvSpPr/>
          <p:nvPr/>
        </p:nvSpPr>
        <p:spPr>
          <a:xfrm>
            <a:off x="4151376" y="1179576"/>
            <a:ext cx="438912" cy="438912"/>
          </a:xfrm>
          <a:prstGeom prst="ellipse">
            <a:avLst/>
          </a:prstGeom>
          <a:solidFill>
            <a:schemeClr val="accent1"/>
          </a:solidFill>
          <a:ln w="12700">
            <a:solidFill>
              <a:schemeClr val="accent1"/>
            </a:solidFill>
            <a:prstDash val="solid"/>
          </a:ln>
        </p:spPr>
      </p:sp>
      <p:pic>
        <p:nvPicPr>
          <p:cNvPr id="15" name="Feature 1 icon" descr="preencoded.png">    </p:cNvPr>
          <p:cNvPicPr>
            <a:picLocks noChangeAspect="1"/>
          </p:cNvPicPr>
          <p:nvPr/>
        </p:nvPicPr>
        <p:blipFill>
          <a:blip r:embed="rId1"/>
          <a:stretch>
            <a:fillRect/>
          </a:stretch>
        </p:blipFill>
        <p:spPr>
          <a:xfrm>
            <a:off x="4261104" y="1289304"/>
            <a:ext cx="219456" cy="219456"/>
          </a:xfrm>
          <a:prstGeom prst="rect">
            <a:avLst/>
          </a:prstGeom>
        </p:spPr>
      </p:pic>
      <p:sp>
        <p:nvSpPr>
          <p:cNvPr id="16" name="Text 13"/>
          <p:cNvSpPr txBox="1"/>
          <p:nvPr/>
        </p:nvSpPr>
        <p:spPr>
          <a:xfrm>
            <a:off x="4151376" y="1673352"/>
            <a:ext cx="2011680" cy="237744"/>
          </a:xfrm>
          <a:prstGeom prst="rect">
            <a:avLst/>
          </a:prstGeom>
          <a:noFill/>
          <a:ln/>
        </p:spPr>
        <p:txBody>
          <a:bodyPr wrap="square" lIns="0" tIns="0" rIns="0" bIns="0" rtlCol="0" anchor="t"/>
          <a:lstStyle/>
          <a:p>
            <a:pPr indent="0" marL="0">
              <a:buNone/>
            </a:pPr>
            <a:r>
              <a:rPr lang="en-US" sz="1300" b="1" dirty="0">
                <a:solidFill>
                  <a:schemeClr val="tx1"/>
                </a:solidFill>
              </a:rPr>
              <a:t>Wallet login (SIWE)</a:t>
            </a:r>
            <a:endParaRPr lang="en-US" sz="1300" dirty="0"/>
          </a:p>
        </p:txBody>
      </p:sp>
      <p:sp>
        <p:nvSpPr>
          <p:cNvPr id="17" name="Text 14"/>
          <p:cNvSpPr txBox="1"/>
          <p:nvPr/>
        </p:nvSpPr>
        <p:spPr>
          <a:xfrm>
            <a:off x="4151376" y="1892808"/>
            <a:ext cx="2057400" cy="219456"/>
          </a:xfrm>
          <a:prstGeom prst="rect">
            <a:avLst/>
          </a:prstGeom>
          <a:noFill/>
          <a:ln/>
        </p:spPr>
        <p:txBody>
          <a:bodyPr wrap="square" lIns="0" tIns="0" rIns="0" bIns="0" rtlCol="0" anchor="t"/>
          <a:lstStyle/>
          <a:p>
            <a:pPr indent="0" marL="0">
              <a:buNone/>
            </a:pPr>
            <a:r>
              <a:rPr lang="en-US" sz="1100" dirty="0">
                <a:solidFill>
                  <a:schemeClr val="tx2"/>
                </a:solidFill>
              </a:rPr>
              <a:t>Sign a message, no password</a:t>
            </a:r>
            <a:endParaRPr lang="en-US" sz="1100" dirty="0"/>
          </a:p>
        </p:txBody>
      </p:sp>
      <p:sp>
        <p:nvSpPr>
          <p:cNvPr id="18" name="Feature 2 card"/>
          <p:cNvSpPr/>
          <p:nvPr/>
        </p:nvSpPr>
        <p:spPr>
          <a:xfrm>
            <a:off x="6400800" y="1051560"/>
            <a:ext cx="2240280" cy="1078992"/>
          </a:xfrm>
          <a:prstGeom prst="roundRect">
            <a:avLst>
              <a:gd name="adj" fmla="val 6780"/>
            </a:avLst>
          </a:prstGeom>
          <a:solidFill>
            <a:schemeClr val="bg2"/>
          </a:solidFill>
          <a:ln w="12700">
            <a:solidFill>
              <a:schemeClr val="bg2"/>
            </a:solidFill>
            <a:prstDash val="solid"/>
          </a:ln>
        </p:spPr>
      </p:sp>
      <p:sp>
        <p:nvSpPr>
          <p:cNvPr id="19" name="Feature 2 circle"/>
          <p:cNvSpPr/>
          <p:nvPr/>
        </p:nvSpPr>
        <p:spPr>
          <a:xfrm>
            <a:off x="6528816" y="1179576"/>
            <a:ext cx="438912" cy="438912"/>
          </a:xfrm>
          <a:prstGeom prst="ellipse">
            <a:avLst/>
          </a:prstGeom>
          <a:solidFill>
            <a:schemeClr val="accent1"/>
          </a:solidFill>
          <a:ln w="12700">
            <a:solidFill>
              <a:schemeClr val="accent1"/>
            </a:solidFill>
            <a:prstDash val="solid"/>
          </a:ln>
        </p:spPr>
      </p:sp>
      <p:pic>
        <p:nvPicPr>
          <p:cNvPr id="20" name="Feature 2 icon" descr="preencoded.png">    </p:cNvPr>
          <p:cNvPicPr>
            <a:picLocks noChangeAspect="1"/>
          </p:cNvPicPr>
          <p:nvPr/>
        </p:nvPicPr>
        <p:blipFill>
          <a:blip r:embed="rId2"/>
          <a:stretch>
            <a:fillRect/>
          </a:stretch>
        </p:blipFill>
        <p:spPr>
          <a:xfrm>
            <a:off x="6638544" y="1289304"/>
            <a:ext cx="219456" cy="219456"/>
          </a:xfrm>
          <a:prstGeom prst="rect">
            <a:avLst/>
          </a:prstGeom>
        </p:spPr>
      </p:pic>
      <p:sp>
        <p:nvSpPr>
          <p:cNvPr id="21" name="Text 17"/>
          <p:cNvSpPr txBox="1"/>
          <p:nvPr/>
        </p:nvSpPr>
        <p:spPr>
          <a:xfrm>
            <a:off x="6528816" y="1673352"/>
            <a:ext cx="2011680" cy="237744"/>
          </a:xfrm>
          <a:prstGeom prst="rect">
            <a:avLst/>
          </a:prstGeom>
          <a:noFill/>
          <a:ln/>
        </p:spPr>
        <p:txBody>
          <a:bodyPr wrap="square" lIns="0" tIns="0" rIns="0" bIns="0" rtlCol="0" anchor="t"/>
          <a:lstStyle/>
          <a:p>
            <a:pPr indent="0" marL="0">
              <a:buNone/>
            </a:pPr>
            <a:r>
              <a:rPr lang="en-US" sz="1300" b="1" dirty="0">
                <a:solidFill>
                  <a:schemeClr val="tx1"/>
                </a:solidFill>
              </a:rPr>
              <a:t>Authorized issuance</a:t>
            </a:r>
            <a:endParaRPr lang="en-US" sz="1300" dirty="0"/>
          </a:p>
        </p:txBody>
      </p:sp>
      <p:sp>
        <p:nvSpPr>
          <p:cNvPr id="22" name="Text 18"/>
          <p:cNvSpPr txBox="1"/>
          <p:nvPr/>
        </p:nvSpPr>
        <p:spPr>
          <a:xfrm>
            <a:off x="6528816" y="1892808"/>
            <a:ext cx="2057400" cy="219456"/>
          </a:xfrm>
          <a:prstGeom prst="rect">
            <a:avLst/>
          </a:prstGeom>
          <a:noFill/>
          <a:ln/>
        </p:spPr>
        <p:txBody>
          <a:bodyPr wrap="square" lIns="0" tIns="0" rIns="0" bIns="0" rtlCol="0" anchor="t"/>
          <a:lstStyle/>
          <a:p>
            <a:pPr indent="0" marL="0">
              <a:buNone/>
            </a:pPr>
            <a:r>
              <a:rPr lang="en-US" sz="1100" dirty="0">
                <a:solidFill>
                  <a:schemeClr val="tx2"/>
                </a:solidFill>
              </a:rPr>
              <a:t>Only wallets with the issuer role</a:t>
            </a:r>
            <a:endParaRPr lang="en-US" sz="1100" dirty="0"/>
          </a:p>
        </p:txBody>
      </p:sp>
      <p:sp>
        <p:nvSpPr>
          <p:cNvPr id="23" name="Feature 3 card"/>
          <p:cNvSpPr/>
          <p:nvPr/>
        </p:nvSpPr>
        <p:spPr>
          <a:xfrm>
            <a:off x="4023360" y="2258568"/>
            <a:ext cx="2240280" cy="1078992"/>
          </a:xfrm>
          <a:prstGeom prst="roundRect">
            <a:avLst>
              <a:gd name="adj" fmla="val 6780"/>
            </a:avLst>
          </a:prstGeom>
          <a:solidFill>
            <a:schemeClr val="bg2"/>
          </a:solidFill>
          <a:ln w="12700">
            <a:solidFill>
              <a:schemeClr val="bg2"/>
            </a:solidFill>
            <a:prstDash val="solid"/>
          </a:ln>
        </p:spPr>
      </p:sp>
      <p:sp>
        <p:nvSpPr>
          <p:cNvPr id="24" name="Feature 3 circle"/>
          <p:cNvSpPr/>
          <p:nvPr/>
        </p:nvSpPr>
        <p:spPr>
          <a:xfrm>
            <a:off x="4151376" y="2386584"/>
            <a:ext cx="438912" cy="438912"/>
          </a:xfrm>
          <a:prstGeom prst="ellipse">
            <a:avLst/>
          </a:prstGeom>
          <a:solidFill>
            <a:schemeClr val="accent1"/>
          </a:solidFill>
          <a:ln w="12700">
            <a:solidFill>
              <a:schemeClr val="accent1"/>
            </a:solidFill>
            <a:prstDash val="solid"/>
          </a:ln>
        </p:spPr>
      </p:sp>
      <p:pic>
        <p:nvPicPr>
          <p:cNvPr id="25" name="Feature 3 icon" descr="preencoded.png">    </p:cNvPr>
          <p:cNvPicPr>
            <a:picLocks noChangeAspect="1"/>
          </p:cNvPicPr>
          <p:nvPr/>
        </p:nvPicPr>
        <p:blipFill>
          <a:blip r:embed="rId3"/>
          <a:stretch>
            <a:fillRect/>
          </a:stretch>
        </p:blipFill>
        <p:spPr>
          <a:xfrm>
            <a:off x="4261104" y="2496312"/>
            <a:ext cx="219456" cy="219456"/>
          </a:xfrm>
          <a:prstGeom prst="rect">
            <a:avLst/>
          </a:prstGeom>
        </p:spPr>
      </p:pic>
      <p:sp>
        <p:nvSpPr>
          <p:cNvPr id="26" name="Text 21"/>
          <p:cNvSpPr txBox="1"/>
          <p:nvPr/>
        </p:nvSpPr>
        <p:spPr>
          <a:xfrm>
            <a:off x="4151376" y="2880360"/>
            <a:ext cx="2011680" cy="237744"/>
          </a:xfrm>
          <a:prstGeom prst="rect">
            <a:avLst/>
          </a:prstGeom>
          <a:noFill/>
          <a:ln/>
        </p:spPr>
        <p:txBody>
          <a:bodyPr wrap="square" lIns="0" tIns="0" rIns="0" bIns="0" rtlCol="0" anchor="t"/>
          <a:lstStyle/>
          <a:p>
            <a:pPr indent="0" marL="0">
              <a:buNone/>
            </a:pPr>
            <a:r>
              <a:rPr lang="en-US" sz="1300" b="1" dirty="0">
                <a:solidFill>
                  <a:schemeClr val="tx1"/>
                </a:solidFill>
              </a:rPr>
              <a:t>Lookup &amp; verify</a:t>
            </a:r>
            <a:endParaRPr lang="en-US" sz="1300" dirty="0"/>
          </a:p>
        </p:txBody>
      </p:sp>
      <p:sp>
        <p:nvSpPr>
          <p:cNvPr id="27" name="Text 22"/>
          <p:cNvSpPr txBox="1"/>
          <p:nvPr/>
        </p:nvSpPr>
        <p:spPr>
          <a:xfrm>
            <a:off x="4151376" y="3099816"/>
            <a:ext cx="2057400" cy="219456"/>
          </a:xfrm>
          <a:prstGeom prst="rect">
            <a:avLst/>
          </a:prstGeom>
          <a:noFill/>
          <a:ln/>
        </p:spPr>
        <p:txBody>
          <a:bodyPr wrap="square" lIns="0" tIns="0" rIns="0" bIns="0" rtlCol="0" anchor="t"/>
          <a:lstStyle/>
          <a:p>
            <a:pPr indent="0" marL="0">
              <a:buNone/>
            </a:pPr>
            <a:r>
              <a:rPr lang="en-US" sz="1100" dirty="0">
                <a:solidFill>
                  <a:schemeClr val="tx2"/>
                </a:solidFill>
              </a:rPr>
              <a:t>By certificate ID or PDF upload</a:t>
            </a:r>
            <a:endParaRPr lang="en-US" sz="1100" dirty="0"/>
          </a:p>
        </p:txBody>
      </p:sp>
      <p:sp>
        <p:nvSpPr>
          <p:cNvPr id="28" name="Feature 4 card"/>
          <p:cNvSpPr/>
          <p:nvPr/>
        </p:nvSpPr>
        <p:spPr>
          <a:xfrm>
            <a:off x="6400800" y="2258568"/>
            <a:ext cx="2240280" cy="1078992"/>
          </a:xfrm>
          <a:prstGeom prst="roundRect">
            <a:avLst>
              <a:gd name="adj" fmla="val 6780"/>
            </a:avLst>
          </a:prstGeom>
          <a:solidFill>
            <a:schemeClr val="bg2"/>
          </a:solidFill>
          <a:ln w="12700">
            <a:solidFill>
              <a:schemeClr val="bg2"/>
            </a:solidFill>
            <a:prstDash val="solid"/>
          </a:ln>
        </p:spPr>
      </p:sp>
      <p:sp>
        <p:nvSpPr>
          <p:cNvPr id="29" name="Feature 4 circle"/>
          <p:cNvSpPr/>
          <p:nvPr/>
        </p:nvSpPr>
        <p:spPr>
          <a:xfrm>
            <a:off x="6528816" y="2386584"/>
            <a:ext cx="438912" cy="438912"/>
          </a:xfrm>
          <a:prstGeom prst="ellipse">
            <a:avLst/>
          </a:prstGeom>
          <a:solidFill>
            <a:schemeClr val="accent1"/>
          </a:solidFill>
          <a:ln w="12700">
            <a:solidFill>
              <a:schemeClr val="accent1"/>
            </a:solidFill>
            <a:prstDash val="solid"/>
          </a:ln>
        </p:spPr>
      </p:sp>
      <p:pic>
        <p:nvPicPr>
          <p:cNvPr id="30" name="Feature 4 icon" descr="preencoded.png">    </p:cNvPr>
          <p:cNvPicPr>
            <a:picLocks noChangeAspect="1"/>
          </p:cNvPicPr>
          <p:nvPr/>
        </p:nvPicPr>
        <p:blipFill>
          <a:blip r:embed="rId4"/>
          <a:stretch>
            <a:fillRect/>
          </a:stretch>
        </p:blipFill>
        <p:spPr>
          <a:xfrm>
            <a:off x="6638544" y="2496312"/>
            <a:ext cx="219456" cy="219456"/>
          </a:xfrm>
          <a:prstGeom prst="rect">
            <a:avLst/>
          </a:prstGeom>
        </p:spPr>
      </p:pic>
      <p:sp>
        <p:nvSpPr>
          <p:cNvPr id="31" name="Text 25"/>
          <p:cNvSpPr txBox="1"/>
          <p:nvPr/>
        </p:nvSpPr>
        <p:spPr>
          <a:xfrm>
            <a:off x="6528816" y="2880360"/>
            <a:ext cx="2011680" cy="237744"/>
          </a:xfrm>
          <a:prstGeom prst="rect">
            <a:avLst/>
          </a:prstGeom>
          <a:noFill/>
          <a:ln/>
        </p:spPr>
        <p:txBody>
          <a:bodyPr wrap="square" lIns="0" tIns="0" rIns="0" bIns="0" rtlCol="0" anchor="t"/>
          <a:lstStyle/>
          <a:p>
            <a:pPr indent="0" marL="0">
              <a:buNone/>
            </a:pPr>
            <a:r>
              <a:rPr lang="en-US" sz="1300" b="1" dirty="0">
                <a:solidFill>
                  <a:schemeClr val="tx1"/>
                </a:solidFill>
              </a:rPr>
              <a:t>Tamper detection</a:t>
            </a:r>
            <a:endParaRPr lang="en-US" sz="1300" dirty="0"/>
          </a:p>
        </p:txBody>
      </p:sp>
      <p:sp>
        <p:nvSpPr>
          <p:cNvPr id="32" name="Text 26"/>
          <p:cNvSpPr txBox="1"/>
          <p:nvPr/>
        </p:nvSpPr>
        <p:spPr>
          <a:xfrm>
            <a:off x="6528816" y="3099816"/>
            <a:ext cx="2057400" cy="219456"/>
          </a:xfrm>
          <a:prstGeom prst="rect">
            <a:avLst/>
          </a:prstGeom>
          <a:noFill/>
          <a:ln/>
        </p:spPr>
        <p:txBody>
          <a:bodyPr wrap="square" lIns="0" tIns="0" rIns="0" bIns="0" rtlCol="0" anchor="t"/>
          <a:lstStyle/>
          <a:p>
            <a:pPr indent="0" marL="0">
              <a:buNone/>
            </a:pPr>
            <a:r>
              <a:rPr lang="en-US" sz="1100" dirty="0">
                <a:solidFill>
                  <a:schemeClr val="tx2"/>
                </a:solidFill>
              </a:rPr>
              <a:t>SHA-256 of the exact PDF bytes</a:t>
            </a:r>
            <a:endParaRPr lang="en-US" sz="1100" dirty="0"/>
          </a:p>
        </p:txBody>
      </p:sp>
      <p:sp>
        <p:nvSpPr>
          <p:cNvPr id="33" name="Feature 5 card"/>
          <p:cNvSpPr/>
          <p:nvPr/>
        </p:nvSpPr>
        <p:spPr>
          <a:xfrm>
            <a:off x="4023360" y="3465576"/>
            <a:ext cx="2240280" cy="1078992"/>
          </a:xfrm>
          <a:prstGeom prst="roundRect">
            <a:avLst>
              <a:gd name="adj" fmla="val 6780"/>
            </a:avLst>
          </a:prstGeom>
          <a:solidFill>
            <a:schemeClr val="bg2"/>
          </a:solidFill>
          <a:ln w="12700">
            <a:solidFill>
              <a:schemeClr val="bg2"/>
            </a:solidFill>
            <a:prstDash val="solid"/>
          </a:ln>
        </p:spPr>
      </p:sp>
      <p:sp>
        <p:nvSpPr>
          <p:cNvPr id="34" name="Feature 5 circle"/>
          <p:cNvSpPr/>
          <p:nvPr/>
        </p:nvSpPr>
        <p:spPr>
          <a:xfrm>
            <a:off x="4151376" y="3593592"/>
            <a:ext cx="438912" cy="438912"/>
          </a:xfrm>
          <a:prstGeom prst="ellipse">
            <a:avLst/>
          </a:prstGeom>
          <a:solidFill>
            <a:schemeClr val="accent1"/>
          </a:solidFill>
          <a:ln w="12700">
            <a:solidFill>
              <a:schemeClr val="accent1"/>
            </a:solidFill>
            <a:prstDash val="solid"/>
          </a:ln>
        </p:spPr>
      </p:sp>
      <p:pic>
        <p:nvPicPr>
          <p:cNvPr id="35" name="Feature 5 icon" descr="preencoded.png">    </p:cNvPr>
          <p:cNvPicPr>
            <a:picLocks noChangeAspect="1"/>
          </p:cNvPicPr>
          <p:nvPr/>
        </p:nvPicPr>
        <p:blipFill>
          <a:blip r:embed="rId5"/>
          <a:stretch>
            <a:fillRect/>
          </a:stretch>
        </p:blipFill>
        <p:spPr>
          <a:xfrm>
            <a:off x="4261104" y="3703320"/>
            <a:ext cx="219456" cy="219456"/>
          </a:xfrm>
          <a:prstGeom prst="rect">
            <a:avLst/>
          </a:prstGeom>
        </p:spPr>
      </p:pic>
      <p:sp>
        <p:nvSpPr>
          <p:cNvPr id="36" name="Text 29"/>
          <p:cNvSpPr txBox="1"/>
          <p:nvPr/>
        </p:nvSpPr>
        <p:spPr>
          <a:xfrm>
            <a:off x="4151376" y="4087368"/>
            <a:ext cx="2011680" cy="237744"/>
          </a:xfrm>
          <a:prstGeom prst="rect">
            <a:avLst/>
          </a:prstGeom>
          <a:noFill/>
          <a:ln/>
        </p:spPr>
        <p:txBody>
          <a:bodyPr wrap="square" lIns="0" tIns="0" rIns="0" bIns="0" rtlCol="0" anchor="t"/>
          <a:lstStyle/>
          <a:p>
            <a:pPr indent="0" marL="0">
              <a:buNone/>
            </a:pPr>
            <a:r>
              <a:rPr lang="en-US" sz="1300" b="1" dirty="0">
                <a:solidFill>
                  <a:schemeClr val="tx1"/>
                </a:solidFill>
              </a:rPr>
              <a:t>Issuer revocation</a:t>
            </a:r>
            <a:endParaRPr lang="en-US" sz="1300" dirty="0"/>
          </a:p>
        </p:txBody>
      </p:sp>
      <p:sp>
        <p:nvSpPr>
          <p:cNvPr id="37" name="Text 30"/>
          <p:cNvSpPr txBox="1"/>
          <p:nvPr/>
        </p:nvSpPr>
        <p:spPr>
          <a:xfrm>
            <a:off x="4151376" y="4306824"/>
            <a:ext cx="2057400" cy="219456"/>
          </a:xfrm>
          <a:prstGeom prst="rect">
            <a:avLst/>
          </a:prstGeom>
          <a:noFill/>
          <a:ln/>
        </p:spPr>
        <p:txBody>
          <a:bodyPr wrap="square" lIns="0" tIns="0" rIns="0" bIns="0" rtlCol="0" anchor="t"/>
          <a:lstStyle/>
          <a:p>
            <a:pPr indent="0" marL="0">
              <a:buNone/>
            </a:pPr>
            <a:r>
              <a:rPr lang="en-US" sz="1100" dirty="0">
                <a:solidFill>
                  <a:schemeClr val="tx2"/>
                </a:solidFill>
              </a:rPr>
              <a:t>Original issuer only; permanent</a:t>
            </a:r>
            <a:endParaRPr lang="en-US" sz="1100" dirty="0"/>
          </a:p>
        </p:txBody>
      </p:sp>
      <p:sp>
        <p:nvSpPr>
          <p:cNvPr id="38" name="Feature 6 card"/>
          <p:cNvSpPr/>
          <p:nvPr/>
        </p:nvSpPr>
        <p:spPr>
          <a:xfrm>
            <a:off x="6400800" y="3465576"/>
            <a:ext cx="2240280" cy="1078992"/>
          </a:xfrm>
          <a:prstGeom prst="roundRect">
            <a:avLst>
              <a:gd name="adj" fmla="val 6780"/>
            </a:avLst>
          </a:prstGeom>
          <a:solidFill>
            <a:schemeClr val="bg2"/>
          </a:solidFill>
          <a:ln w="12700">
            <a:solidFill>
              <a:schemeClr val="bg2"/>
            </a:solidFill>
            <a:prstDash val="solid"/>
          </a:ln>
        </p:spPr>
      </p:sp>
      <p:sp>
        <p:nvSpPr>
          <p:cNvPr id="39" name="Feature 6 circle"/>
          <p:cNvSpPr/>
          <p:nvPr/>
        </p:nvSpPr>
        <p:spPr>
          <a:xfrm>
            <a:off x="6528816" y="3593592"/>
            <a:ext cx="438912" cy="438912"/>
          </a:xfrm>
          <a:prstGeom prst="ellipse">
            <a:avLst/>
          </a:prstGeom>
          <a:solidFill>
            <a:schemeClr val="accent1"/>
          </a:solidFill>
          <a:ln w="12700">
            <a:solidFill>
              <a:schemeClr val="accent1"/>
            </a:solidFill>
            <a:prstDash val="solid"/>
          </a:ln>
        </p:spPr>
      </p:sp>
      <p:pic>
        <p:nvPicPr>
          <p:cNvPr id="40" name="Feature 6 icon" descr="preencoded.png">    </p:cNvPr>
          <p:cNvPicPr>
            <a:picLocks noChangeAspect="1"/>
          </p:cNvPicPr>
          <p:nvPr/>
        </p:nvPicPr>
        <p:blipFill>
          <a:blip r:embed="rId6"/>
          <a:stretch>
            <a:fillRect/>
          </a:stretch>
        </p:blipFill>
        <p:spPr>
          <a:xfrm>
            <a:off x="6638544" y="3703320"/>
            <a:ext cx="219456" cy="219456"/>
          </a:xfrm>
          <a:prstGeom prst="rect">
            <a:avLst/>
          </a:prstGeom>
        </p:spPr>
      </p:pic>
      <p:sp>
        <p:nvSpPr>
          <p:cNvPr id="41" name="Text 33"/>
          <p:cNvSpPr txBox="1"/>
          <p:nvPr/>
        </p:nvSpPr>
        <p:spPr>
          <a:xfrm>
            <a:off x="6528816" y="4087368"/>
            <a:ext cx="2011680" cy="237744"/>
          </a:xfrm>
          <a:prstGeom prst="rect">
            <a:avLst/>
          </a:prstGeom>
          <a:noFill/>
          <a:ln/>
        </p:spPr>
        <p:txBody>
          <a:bodyPr wrap="square" lIns="0" tIns="0" rIns="0" bIns="0" rtlCol="0" anchor="t"/>
          <a:lstStyle/>
          <a:p>
            <a:pPr indent="0" marL="0">
              <a:buNone/>
            </a:pPr>
            <a:r>
              <a:rPr lang="en-US" sz="1300" b="1" dirty="0">
                <a:solidFill>
                  <a:schemeClr val="tx1"/>
                </a:solidFill>
              </a:rPr>
              <a:t>Batch issuance</a:t>
            </a:r>
            <a:endParaRPr lang="en-US" sz="1300" dirty="0"/>
          </a:p>
        </p:txBody>
      </p:sp>
      <p:sp>
        <p:nvSpPr>
          <p:cNvPr id="42" name="Text 34"/>
          <p:cNvSpPr txBox="1"/>
          <p:nvPr/>
        </p:nvSpPr>
        <p:spPr>
          <a:xfrm>
            <a:off x="6528816" y="4306824"/>
            <a:ext cx="2057400" cy="219456"/>
          </a:xfrm>
          <a:prstGeom prst="rect">
            <a:avLst/>
          </a:prstGeom>
          <a:noFill/>
          <a:ln/>
        </p:spPr>
        <p:txBody>
          <a:bodyPr wrap="square" lIns="0" tIns="0" rIns="0" bIns="0" rtlCol="0" anchor="t"/>
          <a:lstStyle/>
          <a:p>
            <a:pPr indent="0" marL="0">
              <a:buNone/>
            </a:pPr>
            <a:r>
              <a:rPr lang="en-US" sz="1100" dirty="0">
                <a:solidFill>
                  <a:schemeClr val="tx2"/>
                </a:solidFill>
              </a:rPr>
              <a:t>Up to 50 per transaction</a:t>
            </a:r>
            <a:endParaRPr lang="en-US" sz="11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Certificate Issuance Workflow</a:t>
            </a:r>
            <a:endParaRPr lang="en-US" sz="3000" dirty="0"/>
          </a:p>
        </p:txBody>
      </p:sp>
      <p:sp>
        <p:nvSpPr>
          <p:cNvPr id="3" name="Draft phase label"/>
          <p:cNvSpPr/>
          <p:nvPr/>
        </p:nvSpPr>
        <p:spPr>
          <a:xfrm>
            <a:off x="457200" y="1024128"/>
            <a:ext cx="5440680" cy="365760"/>
          </a:xfrm>
          <a:prstGeom prst="roundRect">
            <a:avLst>
              <a:gd name="adj" fmla="val 20000"/>
            </a:avLst>
          </a:prstGeom>
          <a:solidFill>
            <a:schemeClr val="bg2"/>
          </a:solidFill>
          <a:ln w="12700">
            <a:solidFill>
              <a:schemeClr val="bg2"/>
            </a:solidFill>
            <a:prstDash val="solid"/>
          </a:ln>
        </p:spPr>
      </p:sp>
      <p:sp>
        <p:nvSpPr>
          <p:cNvPr id="4" name="Text 2"/>
          <p:cNvSpPr txBox="1"/>
          <p:nvPr/>
        </p:nvSpPr>
        <p:spPr>
          <a:xfrm>
            <a:off x="548640" y="1024128"/>
            <a:ext cx="5257800" cy="365760"/>
          </a:xfrm>
          <a:prstGeom prst="rect">
            <a:avLst/>
          </a:prstGeom>
          <a:noFill/>
          <a:ln/>
        </p:spPr>
        <p:txBody>
          <a:bodyPr wrap="square" lIns="0" tIns="0" rIns="0" bIns="0" rtlCol="0" anchor="ctr"/>
          <a:lstStyle/>
          <a:p>
            <a:pPr algn="ctr" indent="0" marL="0">
              <a:buNone/>
            </a:pPr>
            <a:r>
              <a:rPr lang="en-US" sz="1300" b="1" dirty="0">
                <a:solidFill>
                  <a:schemeClr val="tx2"/>
                </a:solidFill>
              </a:rPr>
              <a:t>Off-chain draft — nothing is issued yet</a:t>
            </a:r>
            <a:endParaRPr lang="en-US" sz="1300" dirty="0"/>
          </a:p>
        </p:txBody>
      </p:sp>
      <p:sp>
        <p:nvSpPr>
          <p:cNvPr id="5" name="Chain phase label"/>
          <p:cNvSpPr/>
          <p:nvPr/>
        </p:nvSpPr>
        <p:spPr>
          <a:xfrm>
            <a:off x="6035040" y="1024128"/>
            <a:ext cx="2651760" cy="365760"/>
          </a:xfrm>
          <a:prstGeom prst="roundRect">
            <a:avLst>
              <a:gd name="adj" fmla="val 20000"/>
            </a:avLst>
          </a:prstGeom>
          <a:solidFill>
            <a:schemeClr val="accent1"/>
          </a:solidFill>
          <a:ln w="12700">
            <a:solidFill>
              <a:schemeClr val="accent1"/>
            </a:solidFill>
            <a:prstDash val="solid"/>
          </a:ln>
        </p:spPr>
      </p:sp>
      <p:sp>
        <p:nvSpPr>
          <p:cNvPr id="6" name="Text 4"/>
          <p:cNvSpPr txBox="1"/>
          <p:nvPr/>
        </p:nvSpPr>
        <p:spPr>
          <a:xfrm>
            <a:off x="6126480" y="1024128"/>
            <a:ext cx="2468880" cy="365760"/>
          </a:xfrm>
          <a:prstGeom prst="rect">
            <a:avLst/>
          </a:prstGeom>
          <a:noFill/>
          <a:ln/>
        </p:spPr>
        <p:txBody>
          <a:bodyPr wrap="square" lIns="0" tIns="0" rIns="0" bIns="0" rtlCol="0" anchor="ctr"/>
          <a:lstStyle/>
          <a:p>
            <a:pPr algn="ctr" indent="0" marL="0">
              <a:buNone/>
            </a:pPr>
            <a:r>
              <a:rPr lang="en-US" sz="1300" b="1" dirty="0">
                <a:solidFill>
                  <a:schemeClr val="bg1"/>
                </a:solidFill>
              </a:rPr>
              <a:t>On-chain issuance</a:t>
            </a:r>
            <a:endParaRPr lang="en-US" sz="1300" dirty="0"/>
          </a:p>
        </p:txBody>
      </p:sp>
      <p:sp>
        <p:nvSpPr>
          <p:cNvPr id="7" name="Step 1 card"/>
          <p:cNvSpPr/>
          <p:nvPr/>
        </p:nvSpPr>
        <p:spPr>
          <a:xfrm>
            <a:off x="457200" y="1554480"/>
            <a:ext cx="1234440" cy="2331720"/>
          </a:xfrm>
          <a:prstGeom prst="roundRect">
            <a:avLst>
              <a:gd name="adj" fmla="val 5926"/>
            </a:avLst>
          </a:prstGeom>
          <a:solidFill>
            <a:schemeClr val="bg2"/>
          </a:solidFill>
          <a:ln w="12700">
            <a:solidFill>
              <a:schemeClr val="bg2"/>
            </a:solidFill>
            <a:prstDash val="solid"/>
          </a:ln>
        </p:spPr>
      </p:sp>
      <p:sp>
        <p:nvSpPr>
          <p:cNvPr id="8" name="Step 1 number"/>
          <p:cNvSpPr/>
          <p:nvPr/>
        </p:nvSpPr>
        <p:spPr>
          <a:xfrm>
            <a:off x="850392" y="1691640"/>
            <a:ext cx="457200" cy="457200"/>
          </a:xfrm>
          <a:prstGeom prst="ellipse">
            <a:avLst/>
          </a:prstGeom>
          <a:solidFill>
            <a:schemeClr val="tx1"/>
          </a:solidFill>
          <a:ln w="12700">
            <a:solidFill>
              <a:schemeClr val="tx1"/>
            </a:solidFill>
            <a:prstDash val="solid"/>
          </a:ln>
        </p:spPr>
      </p:sp>
      <p:sp>
        <p:nvSpPr>
          <p:cNvPr id="9" name="Text 7"/>
          <p:cNvSpPr txBox="1"/>
          <p:nvPr/>
        </p:nvSpPr>
        <p:spPr>
          <a:xfrm>
            <a:off x="850392"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Text 8"/>
          <p:cNvSpPr txBox="1"/>
          <p:nvPr/>
        </p:nvSpPr>
        <p:spPr>
          <a:xfrm>
            <a:off x="530352" y="2240280"/>
            <a:ext cx="1097280" cy="457200"/>
          </a:xfrm>
          <a:prstGeom prst="rect">
            <a:avLst/>
          </a:prstGeom>
          <a:noFill/>
          <a:ln/>
        </p:spPr>
        <p:txBody>
          <a:bodyPr wrap="square" lIns="0" tIns="0" rIns="0" bIns="0" rtlCol="0" anchor="t"/>
          <a:lstStyle/>
          <a:p>
            <a:pPr algn="ctr" indent="0" marL="0">
              <a:buNone/>
            </a:pPr>
            <a:r>
              <a:rPr lang="en-US" sz="1300" b="1" dirty="0">
                <a:solidFill>
                  <a:schemeClr val="tx1"/>
                </a:solidFill>
              </a:rPr>
              <a:t>Sign in</a:t>
            </a:r>
            <a:endParaRPr lang="en-US" sz="1300" dirty="0"/>
          </a:p>
        </p:txBody>
      </p:sp>
      <p:sp>
        <p:nvSpPr>
          <p:cNvPr id="11" name="Text 9"/>
          <p:cNvSpPr txBox="1"/>
          <p:nvPr/>
        </p:nvSpPr>
        <p:spPr>
          <a:xfrm>
            <a:off x="530352" y="2724912"/>
            <a:ext cx="1097280" cy="1097280"/>
          </a:xfrm>
          <a:prstGeom prst="rect">
            <a:avLst/>
          </a:prstGeom>
          <a:noFill/>
          <a:ln/>
        </p:spPr>
        <p:txBody>
          <a:bodyPr wrap="square" lIns="0" tIns="0" rIns="0" bIns="0" rtlCol="0" anchor="t"/>
          <a:lstStyle/>
          <a:p>
            <a:pPr algn="ctr" indent="0" marL="0">
              <a:buNone/>
            </a:pPr>
            <a:r>
              <a:rPr lang="en-US" sz="1100" dirty="0">
                <a:solidFill>
                  <a:schemeClr val="tx2"/>
                </a:solidFill>
              </a:rPr>
              <a:t>Issuer connects MetaMask and signs the SIWE message</a:t>
            </a:r>
            <a:endParaRPr lang="en-US" sz="1100" dirty="0"/>
          </a:p>
        </p:txBody>
      </p:sp>
      <p:sp>
        <p:nvSpPr>
          <p:cNvPr id="12" name="Step 2 card"/>
          <p:cNvSpPr/>
          <p:nvPr/>
        </p:nvSpPr>
        <p:spPr>
          <a:xfrm>
            <a:off x="1828800" y="1554480"/>
            <a:ext cx="1234440" cy="2331720"/>
          </a:xfrm>
          <a:prstGeom prst="roundRect">
            <a:avLst>
              <a:gd name="adj" fmla="val 5926"/>
            </a:avLst>
          </a:prstGeom>
          <a:solidFill>
            <a:schemeClr val="bg2"/>
          </a:solidFill>
          <a:ln w="12700">
            <a:solidFill>
              <a:schemeClr val="bg2"/>
            </a:solidFill>
            <a:prstDash val="solid"/>
          </a:ln>
        </p:spPr>
      </p:sp>
      <p:sp>
        <p:nvSpPr>
          <p:cNvPr id="13" name="Step 2 number"/>
          <p:cNvSpPr/>
          <p:nvPr/>
        </p:nvSpPr>
        <p:spPr>
          <a:xfrm>
            <a:off x="2221992" y="1691640"/>
            <a:ext cx="457200" cy="457200"/>
          </a:xfrm>
          <a:prstGeom prst="ellipse">
            <a:avLst/>
          </a:prstGeom>
          <a:solidFill>
            <a:schemeClr val="tx1"/>
          </a:solidFill>
          <a:ln w="12700">
            <a:solidFill>
              <a:schemeClr val="tx1"/>
            </a:solidFill>
            <a:prstDash val="solid"/>
          </a:ln>
        </p:spPr>
      </p:sp>
      <p:sp>
        <p:nvSpPr>
          <p:cNvPr id="14" name="Text 12"/>
          <p:cNvSpPr txBox="1"/>
          <p:nvPr/>
        </p:nvSpPr>
        <p:spPr>
          <a:xfrm>
            <a:off x="2221992"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3"/>
          <p:cNvSpPr txBox="1"/>
          <p:nvPr/>
        </p:nvSpPr>
        <p:spPr>
          <a:xfrm>
            <a:off x="1901952" y="2240280"/>
            <a:ext cx="1097280" cy="457200"/>
          </a:xfrm>
          <a:prstGeom prst="rect">
            <a:avLst/>
          </a:prstGeom>
          <a:noFill/>
          <a:ln/>
        </p:spPr>
        <p:txBody>
          <a:bodyPr wrap="square" lIns="0" tIns="0" rIns="0" bIns="0" rtlCol="0" anchor="t"/>
          <a:lstStyle/>
          <a:p>
            <a:pPr algn="ctr" indent="0" marL="0">
              <a:buNone/>
            </a:pPr>
            <a:r>
              <a:rPr lang="en-US" sz="1300" b="1" dirty="0">
                <a:solidFill>
                  <a:schemeClr val="tx1"/>
                </a:solidFill>
              </a:rPr>
              <a:t>Upload PDF</a:t>
            </a:r>
            <a:endParaRPr lang="en-US" sz="1300" dirty="0"/>
          </a:p>
        </p:txBody>
      </p:sp>
      <p:sp>
        <p:nvSpPr>
          <p:cNvPr id="16" name="Text 14"/>
          <p:cNvSpPr txBox="1"/>
          <p:nvPr/>
        </p:nvSpPr>
        <p:spPr>
          <a:xfrm>
            <a:off x="1901952" y="2724912"/>
            <a:ext cx="1097280" cy="1097280"/>
          </a:xfrm>
          <a:prstGeom prst="rect">
            <a:avLst/>
          </a:prstGeom>
          <a:noFill/>
          <a:ln/>
        </p:spPr>
        <p:txBody>
          <a:bodyPr wrap="square" lIns="0" tIns="0" rIns="0" bIns="0" rtlCol="0" anchor="t"/>
          <a:lstStyle/>
          <a:p>
            <a:pPr algn="ctr" indent="0" marL="0">
              <a:buNone/>
            </a:pPr>
            <a:r>
              <a:rPr lang="en-US" sz="1100" dirty="0">
                <a:solidFill>
                  <a:schemeClr val="tx2"/>
                </a:solidFill>
              </a:rPr>
              <a:t>Issuer uploads the certificate PDF</a:t>
            </a:r>
            <a:endParaRPr lang="en-US" sz="1100" dirty="0"/>
          </a:p>
        </p:txBody>
      </p:sp>
      <p:sp>
        <p:nvSpPr>
          <p:cNvPr id="17" name="Step 3 card"/>
          <p:cNvSpPr/>
          <p:nvPr/>
        </p:nvSpPr>
        <p:spPr>
          <a:xfrm>
            <a:off x="3200400" y="1554480"/>
            <a:ext cx="1234440" cy="2331720"/>
          </a:xfrm>
          <a:prstGeom prst="roundRect">
            <a:avLst>
              <a:gd name="adj" fmla="val 5926"/>
            </a:avLst>
          </a:prstGeom>
          <a:solidFill>
            <a:schemeClr val="bg2"/>
          </a:solidFill>
          <a:ln w="12700">
            <a:solidFill>
              <a:schemeClr val="bg2"/>
            </a:solidFill>
            <a:prstDash val="solid"/>
          </a:ln>
        </p:spPr>
      </p:sp>
      <p:sp>
        <p:nvSpPr>
          <p:cNvPr id="18" name="Step 3 number"/>
          <p:cNvSpPr/>
          <p:nvPr/>
        </p:nvSpPr>
        <p:spPr>
          <a:xfrm>
            <a:off x="3593592" y="1691640"/>
            <a:ext cx="457200" cy="457200"/>
          </a:xfrm>
          <a:prstGeom prst="ellipse">
            <a:avLst/>
          </a:prstGeom>
          <a:solidFill>
            <a:schemeClr val="tx1"/>
          </a:solidFill>
          <a:ln w="12700">
            <a:solidFill>
              <a:schemeClr val="tx1"/>
            </a:solidFill>
            <a:prstDash val="solid"/>
          </a:ln>
        </p:spPr>
      </p:sp>
      <p:sp>
        <p:nvSpPr>
          <p:cNvPr id="19" name="Text 17"/>
          <p:cNvSpPr txBox="1"/>
          <p:nvPr/>
        </p:nvSpPr>
        <p:spPr>
          <a:xfrm>
            <a:off x="3593592"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8"/>
          <p:cNvSpPr txBox="1"/>
          <p:nvPr/>
        </p:nvSpPr>
        <p:spPr>
          <a:xfrm>
            <a:off x="3273552" y="2240280"/>
            <a:ext cx="1097280" cy="457200"/>
          </a:xfrm>
          <a:prstGeom prst="rect">
            <a:avLst/>
          </a:prstGeom>
          <a:noFill/>
          <a:ln/>
        </p:spPr>
        <p:txBody>
          <a:bodyPr wrap="square" lIns="0" tIns="0" rIns="0" bIns="0" rtlCol="0" anchor="t"/>
          <a:lstStyle/>
          <a:p>
            <a:pPr algn="ctr" indent="0" marL="0">
              <a:buNone/>
            </a:pPr>
            <a:r>
              <a:rPr lang="en-US" sz="1300" b="1" dirty="0">
                <a:solidFill>
                  <a:schemeClr val="tx1"/>
                </a:solidFill>
              </a:rPr>
              <a:t>SHA-256 hash</a:t>
            </a:r>
            <a:endParaRPr lang="en-US" sz="1300" dirty="0"/>
          </a:p>
        </p:txBody>
      </p:sp>
      <p:sp>
        <p:nvSpPr>
          <p:cNvPr id="21" name="Text 19"/>
          <p:cNvSpPr txBox="1"/>
          <p:nvPr/>
        </p:nvSpPr>
        <p:spPr>
          <a:xfrm>
            <a:off x="3273552" y="2724912"/>
            <a:ext cx="1097280" cy="1097280"/>
          </a:xfrm>
          <a:prstGeom prst="rect">
            <a:avLst/>
          </a:prstGeom>
          <a:noFill/>
          <a:ln/>
        </p:spPr>
        <p:txBody>
          <a:bodyPr wrap="square" lIns="0" tIns="0" rIns="0" bIns="0" rtlCol="0" anchor="t"/>
          <a:lstStyle/>
          <a:p>
            <a:pPr algn="ctr" indent="0" marL="0">
              <a:buNone/>
            </a:pPr>
            <a:r>
              <a:rPr lang="en-US" sz="1100" dirty="0">
                <a:solidFill>
                  <a:schemeClr val="tx2"/>
                </a:solidFill>
              </a:rPr>
              <a:t>Backend hashes the exact PDF bytes</a:t>
            </a:r>
            <a:endParaRPr lang="en-US" sz="1100" dirty="0"/>
          </a:p>
        </p:txBody>
      </p:sp>
      <p:sp>
        <p:nvSpPr>
          <p:cNvPr id="22" name="Step 4 card"/>
          <p:cNvSpPr/>
          <p:nvPr/>
        </p:nvSpPr>
        <p:spPr>
          <a:xfrm>
            <a:off x="4572000" y="1554480"/>
            <a:ext cx="1234440" cy="2331720"/>
          </a:xfrm>
          <a:prstGeom prst="roundRect">
            <a:avLst>
              <a:gd name="adj" fmla="val 5926"/>
            </a:avLst>
          </a:prstGeom>
          <a:solidFill>
            <a:schemeClr val="bg2"/>
          </a:solidFill>
          <a:ln w="12700">
            <a:solidFill>
              <a:schemeClr val="bg2"/>
            </a:solidFill>
            <a:prstDash val="solid"/>
          </a:ln>
        </p:spPr>
      </p:sp>
      <p:sp>
        <p:nvSpPr>
          <p:cNvPr id="23" name="Step 4 number"/>
          <p:cNvSpPr/>
          <p:nvPr/>
        </p:nvSpPr>
        <p:spPr>
          <a:xfrm>
            <a:off x="4965192" y="1691640"/>
            <a:ext cx="457200" cy="457200"/>
          </a:xfrm>
          <a:prstGeom prst="ellipse">
            <a:avLst/>
          </a:prstGeom>
          <a:solidFill>
            <a:schemeClr val="tx1"/>
          </a:solidFill>
          <a:ln w="12700">
            <a:solidFill>
              <a:schemeClr val="tx1"/>
            </a:solidFill>
            <a:prstDash val="solid"/>
          </a:ln>
        </p:spPr>
      </p:sp>
      <p:sp>
        <p:nvSpPr>
          <p:cNvPr id="24" name="Text 22"/>
          <p:cNvSpPr txBox="1"/>
          <p:nvPr/>
        </p:nvSpPr>
        <p:spPr>
          <a:xfrm>
            <a:off x="4965192"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5" name="Text 23"/>
          <p:cNvSpPr txBox="1"/>
          <p:nvPr/>
        </p:nvSpPr>
        <p:spPr>
          <a:xfrm>
            <a:off x="4645152" y="2240280"/>
            <a:ext cx="1097280" cy="457200"/>
          </a:xfrm>
          <a:prstGeom prst="rect">
            <a:avLst/>
          </a:prstGeom>
          <a:noFill/>
          <a:ln/>
        </p:spPr>
        <p:txBody>
          <a:bodyPr wrap="square" lIns="0" tIns="0" rIns="0" bIns="0" rtlCol="0" anchor="t"/>
          <a:lstStyle/>
          <a:p>
            <a:pPr algn="ctr" indent="0" marL="0">
              <a:buNone/>
            </a:pPr>
            <a:r>
              <a:rPr lang="en-US" sz="1300" b="1" dirty="0">
                <a:solidFill>
                  <a:schemeClr val="tx1"/>
                </a:solidFill>
              </a:rPr>
              <a:t>Prepare draft</a:t>
            </a:r>
            <a:endParaRPr lang="en-US" sz="1300" dirty="0"/>
          </a:p>
        </p:txBody>
      </p:sp>
      <p:sp>
        <p:nvSpPr>
          <p:cNvPr id="26" name="Text 24"/>
          <p:cNvSpPr txBox="1"/>
          <p:nvPr/>
        </p:nvSpPr>
        <p:spPr>
          <a:xfrm>
            <a:off x="4645152" y="2724912"/>
            <a:ext cx="1097280" cy="1097280"/>
          </a:xfrm>
          <a:prstGeom prst="rect">
            <a:avLst/>
          </a:prstGeom>
          <a:noFill/>
          <a:ln/>
        </p:spPr>
        <p:txBody>
          <a:bodyPr wrap="square" lIns="0" tIns="0" rIns="0" bIns="0" rtlCol="0" anchor="t"/>
          <a:lstStyle/>
          <a:p>
            <a:pPr algn="ctr" indent="0" marL="0">
              <a:buNone/>
            </a:pPr>
            <a:r>
              <a:rPr lang="en-US" sz="1100" dirty="0">
                <a:solidFill>
                  <a:schemeClr val="tx2"/>
                </a:solidFill>
              </a:rPr>
              <a:t>Backend simulates the call and returns unsigned tx data</a:t>
            </a:r>
            <a:endParaRPr lang="en-US" sz="1100" dirty="0"/>
          </a:p>
        </p:txBody>
      </p:sp>
      <p:sp>
        <p:nvSpPr>
          <p:cNvPr id="27" name="Step 5 card"/>
          <p:cNvSpPr/>
          <p:nvPr/>
        </p:nvSpPr>
        <p:spPr>
          <a:xfrm>
            <a:off x="6035040" y="1554480"/>
            <a:ext cx="1234440" cy="2331720"/>
          </a:xfrm>
          <a:prstGeom prst="roundRect">
            <a:avLst>
              <a:gd name="adj" fmla="val 5926"/>
            </a:avLst>
          </a:prstGeom>
          <a:solidFill>
            <a:srgbClr val="E6FFFA"/>
          </a:solidFill>
          <a:ln w="12700">
            <a:solidFill>
              <a:schemeClr val="accent1"/>
            </a:solidFill>
            <a:prstDash val="solid"/>
          </a:ln>
        </p:spPr>
      </p:sp>
      <p:sp>
        <p:nvSpPr>
          <p:cNvPr id="28" name="Step 5 number"/>
          <p:cNvSpPr/>
          <p:nvPr/>
        </p:nvSpPr>
        <p:spPr>
          <a:xfrm>
            <a:off x="6428232" y="1691640"/>
            <a:ext cx="457200" cy="457200"/>
          </a:xfrm>
          <a:prstGeom prst="ellipse">
            <a:avLst/>
          </a:prstGeom>
          <a:solidFill>
            <a:schemeClr val="accent1"/>
          </a:solidFill>
          <a:ln w="12700">
            <a:solidFill>
              <a:schemeClr val="accent1"/>
            </a:solidFill>
            <a:prstDash val="solid"/>
          </a:ln>
        </p:spPr>
      </p:sp>
      <p:sp>
        <p:nvSpPr>
          <p:cNvPr id="29" name="Text 27"/>
          <p:cNvSpPr txBox="1"/>
          <p:nvPr/>
        </p:nvSpPr>
        <p:spPr>
          <a:xfrm>
            <a:off x="6428232"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0" name="Text 28"/>
          <p:cNvSpPr txBox="1"/>
          <p:nvPr/>
        </p:nvSpPr>
        <p:spPr>
          <a:xfrm>
            <a:off x="6108192" y="2240280"/>
            <a:ext cx="1097280" cy="457200"/>
          </a:xfrm>
          <a:prstGeom prst="rect">
            <a:avLst/>
          </a:prstGeom>
          <a:noFill/>
          <a:ln/>
        </p:spPr>
        <p:txBody>
          <a:bodyPr wrap="square" lIns="0" tIns="0" rIns="0" bIns="0" rtlCol="0" anchor="t"/>
          <a:lstStyle/>
          <a:p>
            <a:pPr algn="ctr" indent="0" marL="0">
              <a:buNone/>
            </a:pPr>
            <a:r>
              <a:rPr lang="en-US" sz="1300" b="1" dirty="0">
                <a:solidFill>
                  <a:schemeClr val="tx1"/>
                </a:solidFill>
              </a:rPr>
              <a:t>Review &amp; confirm</a:t>
            </a:r>
            <a:endParaRPr lang="en-US" sz="1300" dirty="0"/>
          </a:p>
        </p:txBody>
      </p:sp>
      <p:sp>
        <p:nvSpPr>
          <p:cNvPr id="31" name="Text 29"/>
          <p:cNvSpPr txBox="1"/>
          <p:nvPr/>
        </p:nvSpPr>
        <p:spPr>
          <a:xfrm>
            <a:off x="6108192" y="2724912"/>
            <a:ext cx="1097280" cy="1097280"/>
          </a:xfrm>
          <a:prstGeom prst="rect">
            <a:avLst/>
          </a:prstGeom>
          <a:noFill/>
          <a:ln/>
        </p:spPr>
        <p:txBody>
          <a:bodyPr wrap="square" lIns="0" tIns="0" rIns="0" bIns="0" rtlCol="0" anchor="t"/>
          <a:lstStyle/>
          <a:p>
            <a:pPr algn="ctr" indent="0" marL="0">
              <a:buNone/>
            </a:pPr>
            <a:r>
              <a:rPr lang="en-US" sz="1100" dirty="0">
                <a:solidFill>
                  <a:schemeClr val="tx2"/>
                </a:solidFill>
              </a:rPr>
              <a:t>Issuer checks the details and approves in MetaMask</a:t>
            </a:r>
            <a:endParaRPr lang="en-US" sz="1100" dirty="0"/>
          </a:p>
        </p:txBody>
      </p:sp>
      <p:sp>
        <p:nvSpPr>
          <p:cNvPr id="32" name="Step 6 card"/>
          <p:cNvSpPr/>
          <p:nvPr/>
        </p:nvSpPr>
        <p:spPr>
          <a:xfrm>
            <a:off x="7406640" y="1554480"/>
            <a:ext cx="1234440" cy="2331720"/>
          </a:xfrm>
          <a:prstGeom prst="roundRect">
            <a:avLst>
              <a:gd name="adj" fmla="val 5926"/>
            </a:avLst>
          </a:prstGeom>
          <a:solidFill>
            <a:srgbClr val="E6FFFA"/>
          </a:solidFill>
          <a:ln w="12700">
            <a:solidFill>
              <a:schemeClr val="accent1"/>
            </a:solidFill>
            <a:prstDash val="solid"/>
          </a:ln>
        </p:spPr>
      </p:sp>
      <p:sp>
        <p:nvSpPr>
          <p:cNvPr id="33" name="Step 6 number"/>
          <p:cNvSpPr/>
          <p:nvPr/>
        </p:nvSpPr>
        <p:spPr>
          <a:xfrm>
            <a:off x="7799832" y="1691640"/>
            <a:ext cx="457200" cy="457200"/>
          </a:xfrm>
          <a:prstGeom prst="ellipse">
            <a:avLst/>
          </a:prstGeom>
          <a:solidFill>
            <a:schemeClr val="accent1"/>
          </a:solidFill>
          <a:ln w="12700">
            <a:solidFill>
              <a:schemeClr val="accent1"/>
            </a:solidFill>
            <a:prstDash val="solid"/>
          </a:ln>
        </p:spPr>
      </p:sp>
      <p:sp>
        <p:nvSpPr>
          <p:cNvPr id="34" name="Text 32"/>
          <p:cNvSpPr txBox="1"/>
          <p:nvPr/>
        </p:nvSpPr>
        <p:spPr>
          <a:xfrm>
            <a:off x="7799832"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5" name="Text 33"/>
          <p:cNvSpPr txBox="1"/>
          <p:nvPr/>
        </p:nvSpPr>
        <p:spPr>
          <a:xfrm>
            <a:off x="7479792" y="2240280"/>
            <a:ext cx="1097280" cy="457200"/>
          </a:xfrm>
          <a:prstGeom prst="rect">
            <a:avLst/>
          </a:prstGeom>
          <a:noFill/>
          <a:ln/>
        </p:spPr>
        <p:txBody>
          <a:bodyPr wrap="square" lIns="0" tIns="0" rIns="0" bIns="0" rtlCol="0" anchor="t"/>
          <a:lstStyle/>
          <a:p>
            <a:pPr algn="ctr" indent="0" marL="0">
              <a:buNone/>
            </a:pPr>
            <a:r>
              <a:rPr lang="en-US" sz="1300" b="1" dirty="0">
                <a:solidFill>
                  <a:schemeClr val="tx1"/>
                </a:solidFill>
              </a:rPr>
              <a:t>Recorded</a:t>
            </a:r>
            <a:endParaRPr lang="en-US" sz="1300" dirty="0"/>
          </a:p>
        </p:txBody>
      </p:sp>
      <p:sp>
        <p:nvSpPr>
          <p:cNvPr id="36" name="Text 34"/>
          <p:cNvSpPr txBox="1"/>
          <p:nvPr/>
        </p:nvSpPr>
        <p:spPr>
          <a:xfrm>
            <a:off x="7479792" y="2724912"/>
            <a:ext cx="1097280" cy="1097280"/>
          </a:xfrm>
          <a:prstGeom prst="rect">
            <a:avLst/>
          </a:prstGeom>
          <a:noFill/>
          <a:ln/>
        </p:spPr>
        <p:txBody>
          <a:bodyPr wrap="square" lIns="0" tIns="0" rIns="0" bIns="0" rtlCol="0" anchor="t"/>
          <a:lstStyle/>
          <a:p>
            <a:pPr algn="ctr" indent="0" marL="0">
              <a:buNone/>
            </a:pPr>
            <a:r>
              <a:rPr lang="en-US" sz="1100" dirty="0">
                <a:solidFill>
                  <a:schemeClr val="tx2"/>
                </a:solidFill>
              </a:rPr>
              <a:t>Contract stores the record; backend confirms the receipt</a:t>
            </a:r>
            <a:endParaRPr lang="en-US" sz="1100" dirty="0"/>
          </a:p>
        </p:txBody>
      </p:sp>
      <p:sp>
        <p:nvSpPr>
          <p:cNvPr id="37" name="Draft vs issued note"/>
          <p:cNvSpPr/>
          <p:nvPr/>
        </p:nvSpPr>
        <p:spPr>
          <a:xfrm>
            <a:off x="457200" y="4069080"/>
            <a:ext cx="8229600" cy="594360"/>
          </a:xfrm>
          <a:prstGeom prst="roundRect">
            <a:avLst>
              <a:gd name="adj" fmla="val 12308"/>
            </a:avLst>
          </a:prstGeom>
          <a:solidFill>
            <a:srgbClr val="FEF3C7"/>
          </a:solidFill>
          <a:ln w="12700">
            <a:solidFill>
              <a:srgbClr val="FEF3C7"/>
            </a:solidFill>
            <a:prstDash val="solid"/>
          </a:ln>
        </p:spPr>
      </p:sp>
      <p:sp>
        <p:nvSpPr>
          <p:cNvPr id="38" name="Note circle"/>
          <p:cNvSpPr/>
          <p:nvPr/>
        </p:nvSpPr>
        <p:spPr>
          <a:xfrm>
            <a:off x="566928" y="4133088"/>
            <a:ext cx="457200" cy="457200"/>
          </a:xfrm>
          <a:prstGeom prst="ellipse">
            <a:avLst/>
          </a:prstGeom>
          <a:solidFill>
            <a:schemeClr val="accent4"/>
          </a:solidFill>
          <a:ln w="12700">
            <a:solidFill>
              <a:schemeClr val="accent4"/>
            </a:solidFill>
            <a:prstDash val="solid"/>
          </a:ln>
        </p:spPr>
      </p:sp>
      <p:pic>
        <p:nvPicPr>
          <p:cNvPr id="39" name="Note icon" descr="preencoded.png">    </p:cNvPr>
          <p:cNvPicPr>
            <a:picLocks noChangeAspect="1"/>
          </p:cNvPicPr>
          <p:nvPr/>
        </p:nvPicPr>
        <p:blipFill>
          <a:blip r:embed="rId1"/>
          <a:stretch>
            <a:fillRect/>
          </a:stretch>
        </p:blipFill>
        <p:spPr>
          <a:xfrm>
            <a:off x="681228" y="4247388"/>
            <a:ext cx="228600" cy="228600"/>
          </a:xfrm>
          <a:prstGeom prst="rect">
            <a:avLst/>
          </a:prstGeom>
        </p:spPr>
      </p:pic>
      <p:sp>
        <p:nvSpPr>
          <p:cNvPr id="40" name="Text 37"/>
          <p:cNvSpPr txBox="1"/>
          <p:nvPr/>
        </p:nvSpPr>
        <p:spPr>
          <a:xfrm>
            <a:off x="1143000" y="4087368"/>
            <a:ext cx="7452360" cy="566928"/>
          </a:xfrm>
          <a:prstGeom prst="rect">
            <a:avLst/>
          </a:prstGeom>
          <a:noFill/>
          <a:ln/>
        </p:spPr>
        <p:txBody>
          <a:bodyPr wrap="square" lIns="0" tIns="0" rIns="0" bIns="0" rtlCol="0" anchor="ctr"/>
          <a:lstStyle/>
          <a:p>
            <a:pPr indent="0" marL="0">
              <a:buNone/>
            </a:pPr>
            <a:r>
              <a:rPr lang="en-US" sz="1200" b="1" dirty="0">
                <a:solidFill>
                  <a:schemeClr val="tx1"/>
                </a:solidFill>
              </a:rPr>
              <a:t>A draft is not a certificate. </a:t>
            </a:r>
            <a:pPr indent="0" marL="0">
              <a:buNone/>
            </a:pPr>
            <a:r>
              <a:rPr lang="en-US" sz="1200" dirty="0">
                <a:solidFill>
                  <a:schemeClr val="tx2"/>
                </a:solidFill>
              </a:rPr>
              <a:t>It counts as issued only after the transaction is mined and the backend confirms the receipt and the CertificateIssued event. Until then the app shows PENDING.</a:t>
            </a:r>
            <a:endParaRPr lang="en-US" sz="12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Verification and Revocation</a:t>
            </a:r>
            <a:endParaRPr lang="en-US" sz="3000" dirty="0"/>
          </a:p>
        </p:txBody>
      </p:sp>
      <p:sp>
        <p:nvSpPr>
          <p:cNvPr id="3" name="Text 1"/>
          <p:cNvSpPr txBox="1"/>
          <p:nvPr/>
        </p:nvSpPr>
        <p:spPr>
          <a:xfrm>
            <a:off x="457200" y="960120"/>
            <a:ext cx="8229600" cy="457200"/>
          </a:xfrm>
          <a:prstGeom prst="rect">
            <a:avLst/>
          </a:prstGeom>
          <a:noFill/>
          <a:ln/>
        </p:spPr>
        <p:txBody>
          <a:bodyPr wrap="square" lIns="0" tIns="0" rIns="0" bIns="0" rtlCol="0" anchor="t"/>
          <a:lstStyle/>
          <a:p>
            <a:pPr indent="0" marL="0">
              <a:buNone/>
            </a:pPr>
            <a:r>
              <a:rPr lang="en-US" sz="1400" dirty="0">
                <a:solidFill>
                  <a:schemeClr val="tx2"/>
                </a:solidFill>
              </a:rPr>
              <a:t>Anyone enters the certificate ID and uploads the PDF. The backend hashes the file and compares it with the blockchain record.</a:t>
            </a:r>
            <a:endParaRPr lang="en-US" sz="1400" dirty="0"/>
          </a:p>
        </p:txBody>
      </p:sp>
      <p:sp>
        <p:nvSpPr>
          <p:cNvPr id="4" name="VALID card"/>
          <p:cNvSpPr/>
          <p:nvPr/>
        </p:nvSpPr>
        <p:spPr>
          <a:xfrm>
            <a:off x="457200" y="1508760"/>
            <a:ext cx="2596896" cy="2194560"/>
          </a:xfrm>
          <a:prstGeom prst="roundRect">
            <a:avLst>
              <a:gd name="adj" fmla="val 3333"/>
            </a:avLst>
          </a:prstGeom>
          <a:solidFill>
            <a:srgbClr val="DCFCE7"/>
          </a:solidFill>
          <a:ln w="12700">
            <a:solidFill>
              <a:srgbClr val="DCFCE7"/>
            </a:solidFill>
            <a:prstDash val="solid"/>
          </a:ln>
        </p:spPr>
      </p:sp>
      <p:pic>
        <p:nvPicPr>
          <p:cNvPr id="5" name="VALID icon" descr="preencoded.png">    </p:cNvPr>
          <p:cNvPicPr>
            <a:picLocks noChangeAspect="1"/>
          </p:cNvPicPr>
          <p:nvPr/>
        </p:nvPicPr>
        <p:blipFill>
          <a:blip r:embed="rId1"/>
          <a:stretch>
            <a:fillRect/>
          </a:stretch>
        </p:blipFill>
        <p:spPr>
          <a:xfrm>
            <a:off x="640080" y="1691640"/>
            <a:ext cx="502920" cy="502920"/>
          </a:xfrm>
          <a:prstGeom prst="rect">
            <a:avLst/>
          </a:prstGeom>
        </p:spPr>
      </p:pic>
      <p:sp>
        <p:nvSpPr>
          <p:cNvPr id="6" name="Text 3"/>
          <p:cNvSpPr txBox="1"/>
          <p:nvPr/>
        </p:nvSpPr>
        <p:spPr>
          <a:xfrm>
            <a:off x="1280160" y="1691640"/>
            <a:ext cx="1691640" cy="502920"/>
          </a:xfrm>
          <a:prstGeom prst="rect">
            <a:avLst/>
          </a:prstGeom>
          <a:noFill/>
          <a:ln/>
        </p:spPr>
        <p:txBody>
          <a:bodyPr wrap="square" lIns="0" tIns="0" rIns="0" bIns="0" rtlCol="0" anchor="ctr"/>
          <a:lstStyle/>
          <a:p>
            <a:pPr indent="0" marL="0">
              <a:buNone/>
            </a:pPr>
            <a:r>
              <a:rPr lang="en-US" sz="2400" b="1" dirty="0">
                <a:solidFill>
                  <a:schemeClr val="accent3"/>
                </a:solidFill>
              </a:rPr>
              <a:t>VALID</a:t>
            </a:r>
            <a:endParaRPr lang="en-US" sz="2400" dirty="0"/>
          </a:p>
        </p:txBody>
      </p:sp>
      <p:sp>
        <p:nvSpPr>
          <p:cNvPr id="7" name="Text 4"/>
          <p:cNvSpPr txBox="1"/>
          <p:nvPr/>
        </p:nvSpPr>
        <p:spPr>
          <a:xfrm>
            <a:off x="640080" y="2377440"/>
            <a:ext cx="2240280" cy="320040"/>
          </a:xfrm>
          <a:prstGeom prst="rect">
            <a:avLst/>
          </a:prstGeom>
          <a:noFill/>
          <a:ln/>
        </p:spPr>
        <p:txBody>
          <a:bodyPr wrap="square" lIns="0" tIns="0" rIns="0" bIns="0" rtlCol="0" anchor="t"/>
          <a:lstStyle/>
          <a:p>
            <a:pPr indent="0" marL="0">
              <a:buNone/>
            </a:pPr>
            <a:r>
              <a:rPr lang="en-US" sz="1500" b="1" dirty="0">
                <a:solidFill>
                  <a:schemeClr val="tx1"/>
                </a:solidFill>
              </a:rPr>
              <a:t>Original PDF</a:t>
            </a:r>
            <a:endParaRPr lang="en-US" sz="1500" dirty="0"/>
          </a:p>
        </p:txBody>
      </p:sp>
      <p:sp>
        <p:nvSpPr>
          <p:cNvPr id="8" name="Text 5"/>
          <p:cNvSpPr txBox="1"/>
          <p:nvPr/>
        </p:nvSpPr>
        <p:spPr>
          <a:xfrm>
            <a:off x="640080" y="2724912"/>
            <a:ext cx="2240280" cy="914400"/>
          </a:xfrm>
          <a:prstGeom prst="rect">
            <a:avLst/>
          </a:prstGeom>
          <a:noFill/>
          <a:ln/>
        </p:spPr>
        <p:txBody>
          <a:bodyPr wrap="square" lIns="0" tIns="0" rIns="0" bIns="0" rtlCol="0" anchor="t"/>
          <a:lstStyle/>
          <a:p>
            <a:pPr indent="0" marL="0">
              <a:buNone/>
            </a:pPr>
            <a:r>
              <a:rPr lang="en-US" sz="1300" dirty="0">
                <a:solidFill>
                  <a:schemeClr val="tx2"/>
                </a:solidFill>
              </a:rPr>
              <a:t>Fingerprint matches the on-chain record and the certificate is not revoked</a:t>
            </a:r>
            <a:endParaRPr lang="en-US" sz="1300" dirty="0"/>
          </a:p>
        </p:txBody>
      </p:sp>
      <p:sp>
        <p:nvSpPr>
          <p:cNvPr id="9" name="MODIFIED card"/>
          <p:cNvSpPr/>
          <p:nvPr/>
        </p:nvSpPr>
        <p:spPr>
          <a:xfrm>
            <a:off x="3273552" y="1508760"/>
            <a:ext cx="2596896" cy="2194560"/>
          </a:xfrm>
          <a:prstGeom prst="roundRect">
            <a:avLst>
              <a:gd name="adj" fmla="val 3333"/>
            </a:avLst>
          </a:prstGeom>
          <a:solidFill>
            <a:srgbClr val="FEF3C7"/>
          </a:solidFill>
          <a:ln w="12700">
            <a:solidFill>
              <a:srgbClr val="FEF3C7"/>
            </a:solidFill>
            <a:prstDash val="solid"/>
          </a:ln>
        </p:spPr>
      </p:sp>
      <p:pic>
        <p:nvPicPr>
          <p:cNvPr id="10" name="MODIFIED icon" descr="preencoded.png">    </p:cNvPr>
          <p:cNvPicPr>
            <a:picLocks noChangeAspect="1"/>
          </p:cNvPicPr>
          <p:nvPr/>
        </p:nvPicPr>
        <p:blipFill>
          <a:blip r:embed="rId2"/>
          <a:stretch>
            <a:fillRect/>
          </a:stretch>
        </p:blipFill>
        <p:spPr>
          <a:xfrm>
            <a:off x="3456432" y="1691640"/>
            <a:ext cx="502920" cy="502920"/>
          </a:xfrm>
          <a:prstGeom prst="rect">
            <a:avLst/>
          </a:prstGeom>
        </p:spPr>
      </p:pic>
      <p:sp>
        <p:nvSpPr>
          <p:cNvPr id="11" name="Text 7"/>
          <p:cNvSpPr txBox="1"/>
          <p:nvPr/>
        </p:nvSpPr>
        <p:spPr>
          <a:xfrm>
            <a:off x="4096512" y="1691640"/>
            <a:ext cx="1691640" cy="502920"/>
          </a:xfrm>
          <a:prstGeom prst="rect">
            <a:avLst/>
          </a:prstGeom>
          <a:noFill/>
          <a:ln/>
        </p:spPr>
        <p:txBody>
          <a:bodyPr wrap="square" lIns="0" tIns="0" rIns="0" bIns="0" rtlCol="0" anchor="ctr"/>
          <a:lstStyle/>
          <a:p>
            <a:pPr indent="0" marL="0">
              <a:buNone/>
            </a:pPr>
            <a:r>
              <a:rPr lang="en-US" sz="2400" b="1" dirty="0">
                <a:solidFill>
                  <a:schemeClr val="accent4"/>
                </a:solidFill>
              </a:rPr>
              <a:t>MODIFIED</a:t>
            </a:r>
            <a:endParaRPr lang="en-US" sz="2400" dirty="0"/>
          </a:p>
        </p:txBody>
      </p:sp>
      <p:sp>
        <p:nvSpPr>
          <p:cNvPr id="12" name="Text 8"/>
          <p:cNvSpPr txBox="1"/>
          <p:nvPr/>
        </p:nvSpPr>
        <p:spPr>
          <a:xfrm>
            <a:off x="3456432" y="2377440"/>
            <a:ext cx="2240280" cy="320040"/>
          </a:xfrm>
          <a:prstGeom prst="rect">
            <a:avLst/>
          </a:prstGeom>
          <a:noFill/>
          <a:ln/>
        </p:spPr>
        <p:txBody>
          <a:bodyPr wrap="square" lIns="0" tIns="0" rIns="0" bIns="0" rtlCol="0" anchor="t"/>
          <a:lstStyle/>
          <a:p>
            <a:pPr indent="0" marL="0">
              <a:buNone/>
            </a:pPr>
            <a:r>
              <a:rPr lang="en-US" sz="1500" b="1" dirty="0">
                <a:solidFill>
                  <a:schemeClr val="tx1"/>
                </a:solidFill>
              </a:rPr>
              <a:t>Edited PDF</a:t>
            </a:r>
            <a:endParaRPr lang="en-US" sz="1500" dirty="0"/>
          </a:p>
        </p:txBody>
      </p:sp>
      <p:sp>
        <p:nvSpPr>
          <p:cNvPr id="13" name="Text 9"/>
          <p:cNvSpPr txBox="1"/>
          <p:nvPr/>
        </p:nvSpPr>
        <p:spPr>
          <a:xfrm>
            <a:off x="3456432" y="2724912"/>
            <a:ext cx="2240280" cy="914400"/>
          </a:xfrm>
          <a:prstGeom prst="rect">
            <a:avLst/>
          </a:prstGeom>
          <a:noFill/>
          <a:ln/>
        </p:spPr>
        <p:txBody>
          <a:bodyPr wrap="square" lIns="0" tIns="0" rIns="0" bIns="0" rtlCol="0" anchor="t"/>
          <a:lstStyle/>
          <a:p>
            <a:pPr indent="0" marL="0">
              <a:buNone/>
            </a:pPr>
            <a:r>
              <a:rPr lang="en-US" sz="1300" dirty="0">
                <a:solidFill>
                  <a:schemeClr val="tx2"/>
                </a:solidFill>
              </a:rPr>
              <a:t>Even one changed byte gives a different fingerprint: mismatch</a:t>
            </a:r>
            <a:endParaRPr lang="en-US" sz="1300" dirty="0"/>
          </a:p>
        </p:txBody>
      </p:sp>
      <p:sp>
        <p:nvSpPr>
          <p:cNvPr id="14" name="REVOKED card"/>
          <p:cNvSpPr/>
          <p:nvPr/>
        </p:nvSpPr>
        <p:spPr>
          <a:xfrm>
            <a:off x="6089904" y="1508760"/>
            <a:ext cx="2596896" cy="2194560"/>
          </a:xfrm>
          <a:prstGeom prst="roundRect">
            <a:avLst>
              <a:gd name="adj" fmla="val 3333"/>
            </a:avLst>
          </a:prstGeom>
          <a:solidFill>
            <a:srgbClr val="FEE2E2"/>
          </a:solidFill>
          <a:ln w="12700">
            <a:solidFill>
              <a:srgbClr val="FEE2E2"/>
            </a:solidFill>
            <a:prstDash val="solid"/>
          </a:ln>
        </p:spPr>
      </p:sp>
      <p:pic>
        <p:nvPicPr>
          <p:cNvPr id="15" name="REVOKED icon" descr="preencoded.png">    </p:cNvPr>
          <p:cNvPicPr>
            <a:picLocks noChangeAspect="1"/>
          </p:cNvPicPr>
          <p:nvPr/>
        </p:nvPicPr>
        <p:blipFill>
          <a:blip r:embed="rId3"/>
          <a:stretch>
            <a:fillRect/>
          </a:stretch>
        </p:blipFill>
        <p:spPr>
          <a:xfrm>
            <a:off x="6272784" y="1691640"/>
            <a:ext cx="502920" cy="502920"/>
          </a:xfrm>
          <a:prstGeom prst="rect">
            <a:avLst/>
          </a:prstGeom>
        </p:spPr>
      </p:pic>
      <p:sp>
        <p:nvSpPr>
          <p:cNvPr id="16" name="Text 11"/>
          <p:cNvSpPr txBox="1"/>
          <p:nvPr/>
        </p:nvSpPr>
        <p:spPr>
          <a:xfrm>
            <a:off x="6912864" y="1691640"/>
            <a:ext cx="1691640" cy="502920"/>
          </a:xfrm>
          <a:prstGeom prst="rect">
            <a:avLst/>
          </a:prstGeom>
          <a:noFill/>
          <a:ln/>
        </p:spPr>
        <p:txBody>
          <a:bodyPr wrap="square" lIns="0" tIns="0" rIns="0" bIns="0" rtlCol="0" anchor="ctr"/>
          <a:lstStyle/>
          <a:p>
            <a:pPr indent="0" marL="0">
              <a:buNone/>
            </a:pPr>
            <a:r>
              <a:rPr lang="en-US" sz="2400" b="1" dirty="0">
                <a:solidFill>
                  <a:schemeClr val="accent5"/>
                </a:solidFill>
              </a:rPr>
              <a:t>REVOKED</a:t>
            </a:r>
            <a:endParaRPr lang="en-US" sz="2400" dirty="0"/>
          </a:p>
        </p:txBody>
      </p:sp>
      <p:sp>
        <p:nvSpPr>
          <p:cNvPr id="17" name="Text 12"/>
          <p:cNvSpPr txBox="1"/>
          <p:nvPr/>
        </p:nvSpPr>
        <p:spPr>
          <a:xfrm>
            <a:off x="6272784" y="2377440"/>
            <a:ext cx="2240280" cy="320040"/>
          </a:xfrm>
          <a:prstGeom prst="rect">
            <a:avLst/>
          </a:prstGeom>
          <a:noFill/>
          <a:ln/>
        </p:spPr>
        <p:txBody>
          <a:bodyPr wrap="square" lIns="0" tIns="0" rIns="0" bIns="0" rtlCol="0" anchor="t"/>
          <a:lstStyle/>
          <a:p>
            <a:pPr indent="0" marL="0">
              <a:buNone/>
            </a:pPr>
            <a:r>
              <a:rPr lang="en-US" sz="1500" b="1" dirty="0">
                <a:solidFill>
                  <a:schemeClr val="tx1"/>
                </a:solidFill>
              </a:rPr>
              <a:t>Cancelled certificate</a:t>
            </a:r>
            <a:endParaRPr lang="en-US" sz="1500" dirty="0"/>
          </a:p>
        </p:txBody>
      </p:sp>
      <p:sp>
        <p:nvSpPr>
          <p:cNvPr id="18" name="Text 13"/>
          <p:cNvSpPr txBox="1"/>
          <p:nvPr/>
        </p:nvSpPr>
        <p:spPr>
          <a:xfrm>
            <a:off x="6272784" y="2724912"/>
            <a:ext cx="2240280" cy="914400"/>
          </a:xfrm>
          <a:prstGeom prst="rect">
            <a:avLst/>
          </a:prstGeom>
          <a:noFill/>
          <a:ln/>
        </p:spPr>
        <p:txBody>
          <a:bodyPr wrap="square" lIns="0" tIns="0" rIns="0" bIns="0" rtlCol="0" anchor="t"/>
          <a:lstStyle/>
          <a:p>
            <a:pPr indent="0" marL="0">
              <a:buNone/>
            </a:pPr>
            <a:r>
              <a:rPr lang="en-US" sz="1300" dirty="0">
                <a:solidFill>
                  <a:schemeClr val="tx2"/>
                </a:solidFill>
              </a:rPr>
              <a:t>The original issuer cancelled it on the blockchain. This is permanent</a:t>
            </a:r>
            <a:endParaRPr lang="en-US" sz="1300" dirty="0"/>
          </a:p>
        </p:txBody>
      </p:sp>
      <p:sp>
        <p:nvSpPr>
          <p:cNvPr id="19" name="Text 14"/>
          <p:cNvSpPr txBox="1"/>
          <p:nvPr/>
        </p:nvSpPr>
        <p:spPr>
          <a:xfrm>
            <a:off x="457200" y="3840480"/>
            <a:ext cx="8229600" cy="347472"/>
          </a:xfrm>
          <a:prstGeom prst="rect">
            <a:avLst/>
          </a:prstGeom>
          <a:noFill/>
          <a:ln/>
        </p:spPr>
        <p:txBody>
          <a:bodyPr wrap="square" lIns="0" tIns="0" rIns="0" bIns="0" rtlCol="0" anchor="t"/>
          <a:lstStyle/>
          <a:p>
            <a:pPr indent="0" marL="0">
              <a:buNone/>
            </a:pPr>
            <a:r>
              <a:rPr lang="en-US" sz="1400" b="1" dirty="0">
                <a:solidFill>
                  <a:schemeClr val="tx1"/>
                </a:solidFill>
              </a:rPr>
              <a:t>Two checks, every time: </a:t>
            </a:r>
            <a:pPr indent="0" marL="0">
              <a:buNone/>
            </a:pPr>
            <a:r>
              <a:rPr lang="en-US" sz="1400" dirty="0">
                <a:solidFill>
                  <a:schemeClr val="tx2"/>
                </a:solidFill>
              </a:rPr>
              <a:t>document integrity (does the fingerprint match?) and certificate status (is it revoked?).</a:t>
            </a:r>
            <a:endParaRPr lang="en-US" sz="1400" dirty="0"/>
          </a:p>
        </p:txBody>
      </p:sp>
      <p:sp>
        <p:nvSpPr>
          <p:cNvPr id="20" name="Text 15"/>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200" dirty="0">
                <a:solidFill>
                  <a:schemeClr val="tx2"/>
                </a:solidFill>
              </a:rPr>
              <a:t>Also: UNKNOWN = ID never issued.  UNAVAILABLE = blockchain unreachable (the app never guesses).</a:t>
            </a:r>
            <a:endParaRPr lang="en-US" sz="12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Local Demonstration and Test Results</a:t>
            </a:r>
            <a:endParaRPr lang="en-US" sz="3000" dirty="0"/>
          </a:p>
        </p:txBody>
      </p:sp>
      <p:sp>
        <p:nvSpPr>
          <p:cNvPr id="3" name="Screenshot placeholder"/>
          <p:cNvSpPr/>
          <p:nvPr/>
        </p:nvSpPr>
        <p:spPr>
          <a:xfrm>
            <a:off x="457200" y="1051560"/>
            <a:ext cx="3931920" cy="2011680"/>
          </a:xfrm>
          <a:prstGeom prst="roundRect">
            <a:avLst>
              <a:gd name="adj" fmla="val 3636"/>
            </a:avLst>
          </a:prstGeom>
          <a:solidFill>
            <a:schemeClr val="bg2"/>
          </a:solidFill>
          <a:ln w="12700">
            <a:solidFill>
              <a:schemeClr val="bg2"/>
            </a:solidFill>
            <a:prstDash val="solid"/>
          </a:ln>
        </p:spPr>
      </p:sp>
      <p:pic>
        <p:nvPicPr>
          <p:cNvPr id="4" name="Placeholder icon" descr="preencoded.png">    </p:cNvPr>
          <p:cNvPicPr>
            <a:picLocks noChangeAspect="1"/>
          </p:cNvPicPr>
          <p:nvPr/>
        </p:nvPicPr>
        <p:blipFill>
          <a:blip r:embed="rId1"/>
          <a:stretch>
            <a:fillRect/>
          </a:stretch>
        </p:blipFill>
        <p:spPr>
          <a:xfrm>
            <a:off x="2148840" y="1325880"/>
            <a:ext cx="548640" cy="548640"/>
          </a:xfrm>
          <a:prstGeom prst="rect">
            <a:avLst/>
          </a:prstGeom>
        </p:spPr>
      </p:pic>
      <p:sp>
        <p:nvSpPr>
          <p:cNvPr id="5" name="Text 2"/>
          <p:cNvSpPr txBox="1"/>
          <p:nvPr/>
        </p:nvSpPr>
        <p:spPr>
          <a:xfrm>
            <a:off x="685800" y="2011680"/>
            <a:ext cx="3474720" cy="548640"/>
          </a:xfrm>
          <a:prstGeom prst="rect">
            <a:avLst/>
          </a:prstGeom>
          <a:noFill/>
          <a:ln/>
        </p:spPr>
        <p:txBody>
          <a:bodyPr wrap="square" lIns="0" tIns="0" rIns="0" bIns="0" rtlCol="0" anchor="t"/>
          <a:lstStyle/>
          <a:p>
            <a:pPr algn="ctr" indent="0" marL="0">
              <a:buNone/>
            </a:pPr>
            <a:r>
              <a:rPr lang="en-US" sz="1200" i="1" dirty="0">
                <a:solidFill>
                  <a:schemeClr val="tx2"/>
                </a:solidFill>
              </a:rPr>
              <a:t>Add screenshot: Verify page showing VALID / MODIFIED / REVOKED</a:t>
            </a:r>
            <a:endParaRPr lang="en-US" sz="1200" dirty="0"/>
          </a:p>
        </p:txBody>
      </p:sp>
      <p:sp>
        <p:nvSpPr>
          <p:cNvPr id="6" name="Text 3"/>
          <p:cNvSpPr txBox="1"/>
          <p:nvPr/>
        </p:nvSpPr>
        <p:spPr>
          <a:xfrm>
            <a:off x="457200" y="3172968"/>
            <a:ext cx="3931920" cy="274320"/>
          </a:xfrm>
          <a:prstGeom prst="rect">
            <a:avLst/>
          </a:prstGeom>
          <a:noFill/>
          <a:ln/>
        </p:spPr>
        <p:txBody>
          <a:bodyPr wrap="square" lIns="0" tIns="0" rIns="0" bIns="0" rtlCol="0" anchor="t"/>
          <a:lstStyle/>
          <a:p>
            <a:pPr indent="0" marL="0">
              <a:buNone/>
            </a:pPr>
            <a:r>
              <a:rPr lang="en-US" sz="1500" b="1" dirty="0">
                <a:solidFill>
                  <a:schemeClr val="tx1"/>
                </a:solidFill>
              </a:rPr>
              <a:t>Local demo checks</a:t>
            </a:r>
            <a:endParaRPr lang="en-US" sz="1500" dirty="0"/>
          </a:p>
        </p:txBody>
      </p:sp>
      <p:sp>
        <p:nvSpPr>
          <p:cNvPr id="7" name="Demo check 1 circle"/>
          <p:cNvSpPr/>
          <p:nvPr/>
        </p:nvSpPr>
        <p:spPr>
          <a:xfrm>
            <a:off x="457200" y="3520440"/>
            <a:ext cx="246888" cy="246888"/>
          </a:xfrm>
          <a:prstGeom prst="ellipse">
            <a:avLst/>
          </a:prstGeom>
          <a:solidFill>
            <a:schemeClr val="accent3"/>
          </a:solidFill>
          <a:ln w="12700">
            <a:solidFill>
              <a:schemeClr val="accent3"/>
            </a:solidFill>
            <a:prstDash val="solid"/>
          </a:ln>
        </p:spPr>
      </p:sp>
      <p:pic>
        <p:nvPicPr>
          <p:cNvPr id="8" name="Demo check 1 icon" descr="preencoded.png">    </p:cNvPr>
          <p:cNvPicPr>
            <a:picLocks noChangeAspect="1"/>
          </p:cNvPicPr>
          <p:nvPr/>
        </p:nvPicPr>
        <p:blipFill>
          <a:blip r:embed="rId2"/>
          <a:stretch>
            <a:fillRect/>
          </a:stretch>
        </p:blipFill>
        <p:spPr>
          <a:xfrm>
            <a:off x="518922" y="3582162"/>
            <a:ext cx="123444" cy="123444"/>
          </a:xfrm>
          <a:prstGeom prst="rect">
            <a:avLst/>
          </a:prstGeom>
        </p:spPr>
      </p:pic>
      <p:sp>
        <p:nvSpPr>
          <p:cNvPr id="9" name="Text 5"/>
          <p:cNvSpPr txBox="1"/>
          <p:nvPr/>
        </p:nvSpPr>
        <p:spPr>
          <a:xfrm>
            <a:off x="804672" y="3502152"/>
            <a:ext cx="3566160" cy="283464"/>
          </a:xfrm>
          <a:prstGeom prst="rect">
            <a:avLst/>
          </a:prstGeom>
          <a:noFill/>
          <a:ln/>
        </p:spPr>
        <p:txBody>
          <a:bodyPr wrap="square" lIns="0" tIns="0" rIns="0" bIns="0" rtlCol="0" anchor="ctr"/>
          <a:lstStyle/>
          <a:p>
            <a:pPr indent="0" marL="0">
              <a:buNone/>
            </a:pPr>
            <a:r>
              <a:rPr lang="en-US" sz="1300" dirty="0">
                <a:solidFill>
                  <a:schemeClr val="tx2"/>
                </a:solidFill>
              </a:rPr>
              <a:t>Certificate issued and confirmed</a:t>
            </a:r>
            <a:endParaRPr lang="en-US" sz="1300" dirty="0"/>
          </a:p>
        </p:txBody>
      </p:sp>
      <p:sp>
        <p:nvSpPr>
          <p:cNvPr id="10" name="Demo check 2 circle"/>
          <p:cNvSpPr/>
          <p:nvPr/>
        </p:nvSpPr>
        <p:spPr>
          <a:xfrm>
            <a:off x="457200" y="3822192"/>
            <a:ext cx="246888" cy="246888"/>
          </a:xfrm>
          <a:prstGeom prst="ellipse">
            <a:avLst/>
          </a:prstGeom>
          <a:solidFill>
            <a:schemeClr val="accent3"/>
          </a:solidFill>
          <a:ln w="12700">
            <a:solidFill>
              <a:schemeClr val="accent3"/>
            </a:solidFill>
            <a:prstDash val="solid"/>
          </a:ln>
        </p:spPr>
      </p:sp>
      <p:pic>
        <p:nvPicPr>
          <p:cNvPr id="11" name="Demo check 2 icon" descr="preencoded.png">    </p:cNvPr>
          <p:cNvPicPr>
            <a:picLocks noChangeAspect="1"/>
          </p:cNvPicPr>
          <p:nvPr/>
        </p:nvPicPr>
        <p:blipFill>
          <a:blip r:embed="rId3"/>
          <a:stretch>
            <a:fillRect/>
          </a:stretch>
        </p:blipFill>
        <p:spPr>
          <a:xfrm>
            <a:off x="518922" y="3883914"/>
            <a:ext cx="123444" cy="123444"/>
          </a:xfrm>
          <a:prstGeom prst="rect">
            <a:avLst/>
          </a:prstGeom>
        </p:spPr>
      </p:pic>
      <p:sp>
        <p:nvSpPr>
          <p:cNvPr id="12" name="Text 7"/>
          <p:cNvSpPr txBox="1"/>
          <p:nvPr/>
        </p:nvSpPr>
        <p:spPr>
          <a:xfrm>
            <a:off x="804672" y="3803904"/>
            <a:ext cx="3566160" cy="283464"/>
          </a:xfrm>
          <a:prstGeom prst="rect">
            <a:avLst/>
          </a:prstGeom>
          <a:noFill/>
          <a:ln/>
        </p:spPr>
        <p:txBody>
          <a:bodyPr wrap="square" lIns="0" tIns="0" rIns="0" bIns="0" rtlCol="0" anchor="ctr"/>
          <a:lstStyle/>
          <a:p>
            <a:pPr indent="0" marL="0">
              <a:buNone/>
            </a:pPr>
            <a:r>
              <a:rPr lang="en-US" sz="1300" dirty="0">
                <a:solidFill>
                  <a:schemeClr val="tx2"/>
                </a:solidFill>
              </a:rPr>
              <a:t>Original PDF verified: VALID</a:t>
            </a:r>
            <a:endParaRPr lang="en-US" sz="1300" dirty="0"/>
          </a:p>
        </p:txBody>
      </p:sp>
      <p:sp>
        <p:nvSpPr>
          <p:cNvPr id="13" name="Demo check 3 circle"/>
          <p:cNvSpPr/>
          <p:nvPr/>
        </p:nvSpPr>
        <p:spPr>
          <a:xfrm>
            <a:off x="457200" y="4123944"/>
            <a:ext cx="246888" cy="246888"/>
          </a:xfrm>
          <a:prstGeom prst="ellipse">
            <a:avLst/>
          </a:prstGeom>
          <a:solidFill>
            <a:schemeClr val="accent3"/>
          </a:solidFill>
          <a:ln w="12700">
            <a:solidFill>
              <a:schemeClr val="accent3"/>
            </a:solidFill>
            <a:prstDash val="solid"/>
          </a:ln>
        </p:spPr>
      </p:sp>
      <p:pic>
        <p:nvPicPr>
          <p:cNvPr id="14" name="Demo check 3 icon" descr="preencoded.png">    </p:cNvPr>
          <p:cNvPicPr>
            <a:picLocks noChangeAspect="1"/>
          </p:cNvPicPr>
          <p:nvPr/>
        </p:nvPicPr>
        <p:blipFill>
          <a:blip r:embed="rId4"/>
          <a:stretch>
            <a:fillRect/>
          </a:stretch>
        </p:blipFill>
        <p:spPr>
          <a:xfrm>
            <a:off x="518922" y="4185666"/>
            <a:ext cx="123444" cy="123444"/>
          </a:xfrm>
          <a:prstGeom prst="rect">
            <a:avLst/>
          </a:prstGeom>
        </p:spPr>
      </p:pic>
      <p:sp>
        <p:nvSpPr>
          <p:cNvPr id="15" name="Text 9"/>
          <p:cNvSpPr txBox="1"/>
          <p:nvPr/>
        </p:nvSpPr>
        <p:spPr>
          <a:xfrm>
            <a:off x="804672" y="4105656"/>
            <a:ext cx="3566160" cy="283464"/>
          </a:xfrm>
          <a:prstGeom prst="rect">
            <a:avLst/>
          </a:prstGeom>
          <a:noFill/>
          <a:ln/>
        </p:spPr>
        <p:txBody>
          <a:bodyPr wrap="square" lIns="0" tIns="0" rIns="0" bIns="0" rtlCol="0" anchor="ctr"/>
          <a:lstStyle/>
          <a:p>
            <a:pPr indent="0" marL="0">
              <a:buNone/>
            </a:pPr>
            <a:r>
              <a:rPr lang="en-US" sz="1300" dirty="0">
                <a:solidFill>
                  <a:schemeClr val="tx2"/>
                </a:solidFill>
              </a:rPr>
              <a:t>Modified PDF detected: MODIFIED</a:t>
            </a:r>
            <a:endParaRPr lang="en-US" sz="1300" dirty="0"/>
          </a:p>
        </p:txBody>
      </p:sp>
      <p:sp>
        <p:nvSpPr>
          <p:cNvPr id="16" name="Demo check 4 circle"/>
          <p:cNvSpPr/>
          <p:nvPr/>
        </p:nvSpPr>
        <p:spPr>
          <a:xfrm>
            <a:off x="457200" y="4425696"/>
            <a:ext cx="246888" cy="246888"/>
          </a:xfrm>
          <a:prstGeom prst="ellipse">
            <a:avLst/>
          </a:prstGeom>
          <a:solidFill>
            <a:schemeClr val="accent3"/>
          </a:solidFill>
          <a:ln w="12700">
            <a:solidFill>
              <a:schemeClr val="accent3"/>
            </a:solidFill>
            <a:prstDash val="solid"/>
          </a:ln>
        </p:spPr>
      </p:sp>
      <p:pic>
        <p:nvPicPr>
          <p:cNvPr id="17" name="Demo check 4 icon" descr="preencoded.png">    </p:cNvPr>
          <p:cNvPicPr>
            <a:picLocks noChangeAspect="1"/>
          </p:cNvPicPr>
          <p:nvPr/>
        </p:nvPicPr>
        <p:blipFill>
          <a:blip r:embed="rId5"/>
          <a:stretch>
            <a:fillRect/>
          </a:stretch>
        </p:blipFill>
        <p:spPr>
          <a:xfrm>
            <a:off x="518922" y="4487418"/>
            <a:ext cx="123444" cy="123444"/>
          </a:xfrm>
          <a:prstGeom prst="rect">
            <a:avLst/>
          </a:prstGeom>
        </p:spPr>
      </p:pic>
      <p:sp>
        <p:nvSpPr>
          <p:cNvPr id="18" name="Text 11"/>
          <p:cNvSpPr txBox="1"/>
          <p:nvPr/>
        </p:nvSpPr>
        <p:spPr>
          <a:xfrm>
            <a:off x="804672" y="4407408"/>
            <a:ext cx="3566160" cy="283464"/>
          </a:xfrm>
          <a:prstGeom prst="rect">
            <a:avLst/>
          </a:prstGeom>
          <a:noFill/>
          <a:ln/>
        </p:spPr>
        <p:txBody>
          <a:bodyPr wrap="square" lIns="0" tIns="0" rIns="0" bIns="0" rtlCol="0" anchor="ctr"/>
          <a:lstStyle/>
          <a:p>
            <a:pPr indent="0" marL="0">
              <a:buNone/>
            </a:pPr>
            <a:r>
              <a:rPr lang="en-US" sz="1300" dirty="0">
                <a:solidFill>
                  <a:schemeClr val="tx2"/>
                </a:solidFill>
              </a:rPr>
              <a:t>Revoked certificate shows REVOKED</a:t>
            </a:r>
            <a:endParaRPr lang="en-US" sz="1300" dirty="0"/>
          </a:p>
        </p:txBody>
      </p:sp>
      <p:sp>
        <p:nvSpPr>
          <p:cNvPr id="19" name="Stat 1 card"/>
          <p:cNvSpPr/>
          <p:nvPr/>
        </p:nvSpPr>
        <p:spPr>
          <a:xfrm>
            <a:off x="4663440" y="1051560"/>
            <a:ext cx="1920240" cy="1078992"/>
          </a:xfrm>
          <a:prstGeom prst="roundRect">
            <a:avLst>
              <a:gd name="adj" fmla="val 6780"/>
            </a:avLst>
          </a:prstGeom>
          <a:solidFill>
            <a:schemeClr val="tx1"/>
          </a:solidFill>
          <a:ln w="12700">
            <a:solidFill>
              <a:schemeClr val="tx1"/>
            </a:solidFill>
            <a:prstDash val="solid"/>
          </a:ln>
        </p:spPr>
      </p:sp>
      <p:sp>
        <p:nvSpPr>
          <p:cNvPr id="20" name="Text 13"/>
          <p:cNvSpPr txBox="1"/>
          <p:nvPr/>
        </p:nvSpPr>
        <p:spPr>
          <a:xfrm>
            <a:off x="4800600" y="1124712"/>
            <a:ext cx="1645920" cy="502920"/>
          </a:xfrm>
          <a:prstGeom prst="rect">
            <a:avLst/>
          </a:prstGeom>
          <a:noFill/>
          <a:ln/>
        </p:spPr>
        <p:txBody>
          <a:bodyPr wrap="square" lIns="0" tIns="0" rIns="0" bIns="0" rtlCol="0" anchor="t"/>
          <a:lstStyle/>
          <a:p>
            <a:pPr indent="0" marL="0">
              <a:buNone/>
            </a:pPr>
            <a:r>
              <a:rPr lang="en-US" sz="3200" b="1" dirty="0">
                <a:solidFill>
                  <a:schemeClr val="accent6"/>
                </a:solidFill>
              </a:rPr>
              <a:t>51</a:t>
            </a:r>
            <a:endParaRPr lang="en-US" sz="3200" dirty="0"/>
          </a:p>
        </p:txBody>
      </p:sp>
      <p:sp>
        <p:nvSpPr>
          <p:cNvPr id="21" name="Text 14"/>
          <p:cNvSpPr txBox="1"/>
          <p:nvPr/>
        </p:nvSpPr>
        <p:spPr>
          <a:xfrm>
            <a:off x="4800600" y="1627632"/>
            <a:ext cx="1691640" cy="246888"/>
          </a:xfrm>
          <a:prstGeom prst="rect">
            <a:avLst/>
          </a:prstGeom>
          <a:noFill/>
          <a:ln/>
        </p:spPr>
        <p:txBody>
          <a:bodyPr wrap="square" lIns="0" tIns="0" rIns="0" bIns="0" rtlCol="0" anchor="t"/>
          <a:lstStyle/>
          <a:p>
            <a:pPr indent="0" marL="0">
              <a:buNone/>
            </a:pPr>
            <a:r>
              <a:rPr lang="en-US" sz="1200" b="1" dirty="0">
                <a:solidFill>
                  <a:schemeClr val="bg1"/>
                </a:solidFill>
              </a:rPr>
              <a:t>Smart contract tests</a:t>
            </a:r>
            <a:endParaRPr lang="en-US" sz="1200" dirty="0"/>
          </a:p>
        </p:txBody>
      </p:sp>
      <p:sp>
        <p:nvSpPr>
          <p:cNvPr id="22" name="Text 15"/>
          <p:cNvSpPr txBox="1"/>
          <p:nvPr/>
        </p:nvSpPr>
        <p:spPr>
          <a:xfrm>
            <a:off x="4800600" y="1856232"/>
            <a:ext cx="1691640" cy="228600"/>
          </a:xfrm>
          <a:prstGeom prst="rect">
            <a:avLst/>
          </a:prstGeom>
          <a:noFill/>
          <a:ln/>
        </p:spPr>
        <p:txBody>
          <a:bodyPr wrap="square" lIns="0" tIns="0" rIns="0" bIns="0" rtlCol="0" anchor="t"/>
          <a:lstStyle/>
          <a:p>
            <a:pPr indent="0" marL="0">
              <a:buNone/>
            </a:pPr>
            <a:r>
              <a:rPr lang="en-US" sz="1000" dirty="0">
                <a:solidFill>
                  <a:srgbClr val="CBD5E1"/>
                </a:solidFill>
              </a:rPr>
              <a:t>unit, fuzz, invariant</a:t>
            </a:r>
            <a:endParaRPr lang="en-US" sz="1000" dirty="0"/>
          </a:p>
        </p:txBody>
      </p:sp>
      <p:sp>
        <p:nvSpPr>
          <p:cNvPr id="23" name="Stat 2 card"/>
          <p:cNvSpPr/>
          <p:nvPr/>
        </p:nvSpPr>
        <p:spPr>
          <a:xfrm>
            <a:off x="6720840" y="1051560"/>
            <a:ext cx="1920240" cy="1078992"/>
          </a:xfrm>
          <a:prstGeom prst="roundRect">
            <a:avLst>
              <a:gd name="adj" fmla="val 6780"/>
            </a:avLst>
          </a:prstGeom>
          <a:solidFill>
            <a:schemeClr val="tx1"/>
          </a:solidFill>
          <a:ln w="12700">
            <a:solidFill>
              <a:schemeClr val="tx1"/>
            </a:solidFill>
            <a:prstDash val="solid"/>
          </a:ln>
        </p:spPr>
      </p:sp>
      <p:sp>
        <p:nvSpPr>
          <p:cNvPr id="24" name="Text 17"/>
          <p:cNvSpPr txBox="1"/>
          <p:nvPr/>
        </p:nvSpPr>
        <p:spPr>
          <a:xfrm>
            <a:off x="6858000" y="1124712"/>
            <a:ext cx="1645920" cy="502920"/>
          </a:xfrm>
          <a:prstGeom prst="rect">
            <a:avLst/>
          </a:prstGeom>
          <a:noFill/>
          <a:ln/>
        </p:spPr>
        <p:txBody>
          <a:bodyPr wrap="square" lIns="0" tIns="0" rIns="0" bIns="0" rtlCol="0" anchor="t"/>
          <a:lstStyle/>
          <a:p>
            <a:pPr indent="0" marL="0">
              <a:buNone/>
            </a:pPr>
            <a:r>
              <a:rPr lang="en-US" sz="3200" b="1" dirty="0">
                <a:solidFill>
                  <a:schemeClr val="accent6"/>
                </a:solidFill>
              </a:rPr>
              <a:t>97</a:t>
            </a:r>
            <a:endParaRPr lang="en-US" sz="3200" dirty="0"/>
          </a:p>
        </p:txBody>
      </p:sp>
      <p:sp>
        <p:nvSpPr>
          <p:cNvPr id="25" name="Text 18"/>
          <p:cNvSpPr txBox="1"/>
          <p:nvPr/>
        </p:nvSpPr>
        <p:spPr>
          <a:xfrm>
            <a:off x="6858000" y="1627632"/>
            <a:ext cx="1691640" cy="246888"/>
          </a:xfrm>
          <a:prstGeom prst="rect">
            <a:avLst/>
          </a:prstGeom>
          <a:noFill/>
          <a:ln/>
        </p:spPr>
        <p:txBody>
          <a:bodyPr wrap="square" lIns="0" tIns="0" rIns="0" bIns="0" rtlCol="0" anchor="t"/>
          <a:lstStyle/>
          <a:p>
            <a:pPr indent="0" marL="0">
              <a:buNone/>
            </a:pPr>
            <a:r>
              <a:rPr lang="en-US" sz="1200" b="1" dirty="0">
                <a:solidFill>
                  <a:schemeClr val="bg1"/>
                </a:solidFill>
              </a:rPr>
              <a:t>Backend unit tests</a:t>
            </a:r>
            <a:endParaRPr lang="en-US" sz="1200" dirty="0"/>
          </a:p>
        </p:txBody>
      </p:sp>
      <p:sp>
        <p:nvSpPr>
          <p:cNvPr id="26" name="Text 19"/>
          <p:cNvSpPr txBox="1"/>
          <p:nvPr/>
        </p:nvSpPr>
        <p:spPr>
          <a:xfrm>
            <a:off x="6858000" y="1856232"/>
            <a:ext cx="1691640" cy="228600"/>
          </a:xfrm>
          <a:prstGeom prst="rect">
            <a:avLst/>
          </a:prstGeom>
          <a:noFill/>
          <a:ln/>
        </p:spPr>
        <p:txBody>
          <a:bodyPr wrap="square" lIns="0" tIns="0" rIns="0" bIns="0" rtlCol="0" anchor="t"/>
          <a:lstStyle/>
          <a:p>
            <a:pPr indent="0" marL="0">
              <a:buNone/>
            </a:pPr>
            <a:r>
              <a:rPr lang="en-US" sz="1000" dirty="0">
                <a:solidFill>
                  <a:srgbClr val="CBD5E1"/>
                </a:solidFill>
              </a:rPr>
              <a:t>API, auth, hashing</a:t>
            </a:r>
            <a:endParaRPr lang="en-US" sz="1000" dirty="0"/>
          </a:p>
        </p:txBody>
      </p:sp>
      <p:sp>
        <p:nvSpPr>
          <p:cNvPr id="27" name="Stat 3 card"/>
          <p:cNvSpPr/>
          <p:nvPr/>
        </p:nvSpPr>
        <p:spPr>
          <a:xfrm>
            <a:off x="4663440" y="2258568"/>
            <a:ext cx="1920240" cy="1078992"/>
          </a:xfrm>
          <a:prstGeom prst="roundRect">
            <a:avLst>
              <a:gd name="adj" fmla="val 6780"/>
            </a:avLst>
          </a:prstGeom>
          <a:solidFill>
            <a:schemeClr val="tx1"/>
          </a:solidFill>
          <a:ln w="12700">
            <a:solidFill>
              <a:schemeClr val="tx1"/>
            </a:solidFill>
            <a:prstDash val="solid"/>
          </a:ln>
        </p:spPr>
      </p:sp>
      <p:sp>
        <p:nvSpPr>
          <p:cNvPr id="28" name="Text 21"/>
          <p:cNvSpPr txBox="1"/>
          <p:nvPr/>
        </p:nvSpPr>
        <p:spPr>
          <a:xfrm>
            <a:off x="4800600" y="2331720"/>
            <a:ext cx="1645920" cy="502920"/>
          </a:xfrm>
          <a:prstGeom prst="rect">
            <a:avLst/>
          </a:prstGeom>
          <a:noFill/>
          <a:ln/>
        </p:spPr>
        <p:txBody>
          <a:bodyPr wrap="square" lIns="0" tIns="0" rIns="0" bIns="0" rtlCol="0" anchor="t"/>
          <a:lstStyle/>
          <a:p>
            <a:pPr indent="0" marL="0">
              <a:buNone/>
            </a:pPr>
            <a:r>
              <a:rPr lang="en-US" sz="3200" b="1" dirty="0">
                <a:solidFill>
                  <a:schemeClr val="accent6"/>
                </a:solidFill>
              </a:rPr>
              <a:t>28</a:t>
            </a:r>
            <a:endParaRPr lang="en-US" sz="3200" dirty="0"/>
          </a:p>
        </p:txBody>
      </p:sp>
      <p:sp>
        <p:nvSpPr>
          <p:cNvPr id="29" name="Text 22"/>
          <p:cNvSpPr txBox="1"/>
          <p:nvPr/>
        </p:nvSpPr>
        <p:spPr>
          <a:xfrm>
            <a:off x="4800600" y="2834640"/>
            <a:ext cx="1691640" cy="246888"/>
          </a:xfrm>
          <a:prstGeom prst="rect">
            <a:avLst/>
          </a:prstGeom>
          <a:noFill/>
          <a:ln/>
        </p:spPr>
        <p:txBody>
          <a:bodyPr wrap="square" lIns="0" tIns="0" rIns="0" bIns="0" rtlCol="0" anchor="t"/>
          <a:lstStyle/>
          <a:p>
            <a:pPr indent="0" marL="0">
              <a:buNone/>
            </a:pPr>
            <a:r>
              <a:rPr lang="en-US" sz="1200" b="1" dirty="0">
                <a:solidFill>
                  <a:schemeClr val="bg1"/>
                </a:solidFill>
              </a:rPr>
              <a:t>Backend integration</a:t>
            </a:r>
            <a:endParaRPr lang="en-US" sz="1200" dirty="0"/>
          </a:p>
        </p:txBody>
      </p:sp>
      <p:sp>
        <p:nvSpPr>
          <p:cNvPr id="30" name="Text 23"/>
          <p:cNvSpPr txBox="1"/>
          <p:nvPr/>
        </p:nvSpPr>
        <p:spPr>
          <a:xfrm>
            <a:off x="4800600" y="3063240"/>
            <a:ext cx="1691640" cy="228600"/>
          </a:xfrm>
          <a:prstGeom prst="rect">
            <a:avLst/>
          </a:prstGeom>
          <a:noFill/>
          <a:ln/>
        </p:spPr>
        <p:txBody>
          <a:bodyPr wrap="square" lIns="0" tIns="0" rIns="0" bIns="0" rtlCol="0" anchor="t"/>
          <a:lstStyle/>
          <a:p>
            <a:pPr indent="0" marL="0">
              <a:buNone/>
            </a:pPr>
            <a:r>
              <a:rPr lang="en-US" sz="1000" dirty="0">
                <a:solidFill>
                  <a:srgbClr val="CBD5E1"/>
                </a:solidFill>
              </a:rPr>
              <a:t>real Anvil + MongoDB</a:t>
            </a:r>
            <a:endParaRPr lang="en-US" sz="1000" dirty="0"/>
          </a:p>
        </p:txBody>
      </p:sp>
      <p:sp>
        <p:nvSpPr>
          <p:cNvPr id="31" name="Stat 4 card"/>
          <p:cNvSpPr/>
          <p:nvPr/>
        </p:nvSpPr>
        <p:spPr>
          <a:xfrm>
            <a:off x="6720840" y="2258568"/>
            <a:ext cx="1920240" cy="1078992"/>
          </a:xfrm>
          <a:prstGeom prst="roundRect">
            <a:avLst>
              <a:gd name="adj" fmla="val 6780"/>
            </a:avLst>
          </a:prstGeom>
          <a:solidFill>
            <a:schemeClr val="tx1"/>
          </a:solidFill>
          <a:ln w="12700">
            <a:solidFill>
              <a:schemeClr val="tx1"/>
            </a:solidFill>
            <a:prstDash val="solid"/>
          </a:ln>
        </p:spPr>
      </p:sp>
      <p:sp>
        <p:nvSpPr>
          <p:cNvPr id="32" name="Text 25"/>
          <p:cNvSpPr txBox="1"/>
          <p:nvPr/>
        </p:nvSpPr>
        <p:spPr>
          <a:xfrm>
            <a:off x="6858000" y="2331720"/>
            <a:ext cx="1645920" cy="502920"/>
          </a:xfrm>
          <a:prstGeom prst="rect">
            <a:avLst/>
          </a:prstGeom>
          <a:noFill/>
          <a:ln/>
        </p:spPr>
        <p:txBody>
          <a:bodyPr wrap="square" lIns="0" tIns="0" rIns="0" bIns="0" rtlCol="0" anchor="t"/>
          <a:lstStyle/>
          <a:p>
            <a:pPr indent="0" marL="0">
              <a:buNone/>
            </a:pPr>
            <a:r>
              <a:rPr lang="en-US" sz="3200" b="1" dirty="0">
                <a:solidFill>
                  <a:schemeClr val="accent6"/>
                </a:solidFill>
              </a:rPr>
              <a:t>105</a:t>
            </a:r>
            <a:endParaRPr lang="en-US" sz="3200" dirty="0"/>
          </a:p>
        </p:txBody>
      </p:sp>
      <p:sp>
        <p:nvSpPr>
          <p:cNvPr id="33" name="Text 26"/>
          <p:cNvSpPr txBox="1"/>
          <p:nvPr/>
        </p:nvSpPr>
        <p:spPr>
          <a:xfrm>
            <a:off x="6858000" y="2834640"/>
            <a:ext cx="1691640" cy="246888"/>
          </a:xfrm>
          <a:prstGeom prst="rect">
            <a:avLst/>
          </a:prstGeom>
          <a:noFill/>
          <a:ln/>
        </p:spPr>
        <p:txBody>
          <a:bodyPr wrap="square" lIns="0" tIns="0" rIns="0" bIns="0" rtlCol="0" anchor="t"/>
          <a:lstStyle/>
          <a:p>
            <a:pPr indent="0" marL="0">
              <a:buNone/>
            </a:pPr>
            <a:r>
              <a:rPr lang="en-US" sz="1200" b="1" dirty="0">
                <a:solidFill>
                  <a:schemeClr val="bg1"/>
                </a:solidFill>
              </a:rPr>
              <a:t>Frontend tests</a:t>
            </a:r>
            <a:endParaRPr lang="en-US" sz="1200" dirty="0"/>
          </a:p>
        </p:txBody>
      </p:sp>
      <p:sp>
        <p:nvSpPr>
          <p:cNvPr id="34" name="Text 27"/>
          <p:cNvSpPr txBox="1"/>
          <p:nvPr/>
        </p:nvSpPr>
        <p:spPr>
          <a:xfrm>
            <a:off x="6858000" y="3063240"/>
            <a:ext cx="1691640" cy="228600"/>
          </a:xfrm>
          <a:prstGeom prst="rect">
            <a:avLst/>
          </a:prstGeom>
          <a:noFill/>
          <a:ln/>
        </p:spPr>
        <p:txBody>
          <a:bodyPr wrap="square" lIns="0" tIns="0" rIns="0" bIns="0" rtlCol="0" anchor="t"/>
          <a:lstStyle/>
          <a:p>
            <a:pPr indent="0" marL="0">
              <a:buNone/>
            </a:pPr>
            <a:r>
              <a:rPr lang="en-US" sz="1000" dirty="0">
                <a:solidFill>
                  <a:srgbClr val="CBD5E1"/>
                </a:solidFill>
              </a:rPr>
              <a:t>UI and wallet logic</a:t>
            </a:r>
            <a:endParaRPr lang="en-US" sz="1000" dirty="0"/>
          </a:p>
        </p:txBody>
      </p:sp>
      <p:sp>
        <p:nvSpPr>
          <p:cNvPr id="35" name="Scope note"/>
          <p:cNvSpPr/>
          <p:nvPr/>
        </p:nvSpPr>
        <p:spPr>
          <a:xfrm>
            <a:off x="4663440" y="3502152"/>
            <a:ext cx="3977640" cy="1097280"/>
          </a:xfrm>
          <a:prstGeom prst="roundRect">
            <a:avLst>
              <a:gd name="adj" fmla="val 6667"/>
            </a:avLst>
          </a:prstGeom>
          <a:solidFill>
            <a:srgbClr val="E6FFFA"/>
          </a:solidFill>
          <a:ln w="12700">
            <a:solidFill>
              <a:schemeClr val="accent1"/>
            </a:solidFill>
            <a:prstDash val="solid"/>
          </a:ln>
        </p:spPr>
      </p:sp>
      <p:sp>
        <p:nvSpPr>
          <p:cNvPr id="36" name="Text 29"/>
          <p:cNvSpPr txBox="1"/>
          <p:nvPr/>
        </p:nvSpPr>
        <p:spPr>
          <a:xfrm>
            <a:off x="4800600" y="3584448"/>
            <a:ext cx="3749040" cy="960120"/>
          </a:xfrm>
          <a:prstGeom prst="rect">
            <a:avLst/>
          </a:prstGeom>
          <a:noFill/>
          <a:ln/>
        </p:spPr>
        <p:txBody>
          <a:bodyPr wrap="square" lIns="0" tIns="0" rIns="0" bIns="0" rtlCol="0" anchor="ctr"/>
          <a:lstStyle/>
          <a:p>
            <a:pPr indent="0" marL="0">
              <a:buNone/>
            </a:pPr>
            <a:r>
              <a:rPr lang="en-US" sz="1400" b="1" dirty="0">
                <a:solidFill>
                  <a:schemeClr val="tx1"/>
                </a:solidFill>
              </a:rPr>
              <a:t>281 automated tests, all passing</a:t>
            </a:r>
            <a:endParaRPr lang="en-US" sz="1400" dirty="0"/>
          </a:p>
          <a:p>
            <a:pPr indent="0" marL="0">
              <a:buNone/>
            </a:pPr>
            <a:r>
              <a:rPr lang="en-US" sz="1200" dirty="0">
                <a:solidFill>
                  <a:schemeClr val="tx2"/>
                </a:solidFill>
              </a:rPr>
              <a:t>Local testing only: Anvil chain 31337. Not deployed on a public blockchain. No independent security audit.</a:t>
            </a:r>
            <a:endParaRPr lang="en-US" sz="14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Applications, Limitations and Future Scope</a:t>
            </a:r>
            <a:endParaRPr lang="en-US" sz="3000" dirty="0"/>
          </a:p>
        </p:txBody>
      </p:sp>
      <p:sp>
        <p:nvSpPr>
          <p:cNvPr id="3" name="Real-world uses card"/>
          <p:cNvSpPr/>
          <p:nvPr/>
        </p:nvSpPr>
        <p:spPr>
          <a:xfrm>
            <a:off x="457200" y="1051560"/>
            <a:ext cx="2596896" cy="3200400"/>
          </a:xfrm>
          <a:prstGeom prst="roundRect">
            <a:avLst>
              <a:gd name="adj" fmla="val 2817"/>
            </a:avLst>
          </a:prstGeom>
          <a:solidFill>
            <a:schemeClr val="bg2"/>
          </a:solidFill>
          <a:ln w="12700">
            <a:solidFill>
              <a:schemeClr val="bg2"/>
            </a:solidFill>
            <a:prstDash val="solid"/>
          </a:ln>
        </p:spPr>
      </p:sp>
      <p:sp>
        <p:nvSpPr>
          <p:cNvPr id="4" name="Real-world uses circle"/>
          <p:cNvSpPr/>
          <p:nvPr/>
        </p:nvSpPr>
        <p:spPr>
          <a:xfrm>
            <a:off x="640080" y="1207008"/>
            <a:ext cx="502920" cy="502920"/>
          </a:xfrm>
          <a:prstGeom prst="ellipse">
            <a:avLst/>
          </a:prstGeom>
          <a:solidFill>
            <a:schemeClr val="accent1"/>
          </a:solidFill>
          <a:ln w="12700">
            <a:solidFill>
              <a:schemeClr val="accent1"/>
            </a:solidFill>
            <a:prstDash val="solid"/>
          </a:ln>
        </p:spPr>
      </p:sp>
      <p:pic>
        <p:nvPicPr>
          <p:cNvPr id="5" name="Real-world uses icon" descr="preencoded.png">    </p:cNvPr>
          <p:cNvPicPr>
            <a:picLocks noChangeAspect="1"/>
          </p:cNvPicPr>
          <p:nvPr/>
        </p:nvPicPr>
        <p:blipFill>
          <a:blip r:embed="rId1"/>
          <a:stretch>
            <a:fillRect/>
          </a:stretch>
        </p:blipFill>
        <p:spPr>
          <a:xfrm>
            <a:off x="765810" y="1332738"/>
            <a:ext cx="251460" cy="251460"/>
          </a:xfrm>
          <a:prstGeom prst="rect">
            <a:avLst/>
          </a:prstGeom>
        </p:spPr>
      </p:pic>
      <p:sp>
        <p:nvSpPr>
          <p:cNvPr id="6" name="Text 3"/>
          <p:cNvSpPr txBox="1"/>
          <p:nvPr/>
        </p:nvSpPr>
        <p:spPr>
          <a:xfrm>
            <a:off x="1261872" y="1207008"/>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Real-world uses</a:t>
            </a:r>
            <a:endParaRPr lang="en-US" sz="1600" dirty="0"/>
          </a:p>
        </p:txBody>
      </p:sp>
      <p:sp>
        <p:nvSpPr>
          <p:cNvPr id="7" name="Text 4"/>
          <p:cNvSpPr txBox="1"/>
          <p:nvPr/>
        </p:nvSpPr>
        <p:spPr>
          <a:xfrm>
            <a:off x="640080" y="1874520"/>
            <a:ext cx="2286000"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University degree and marksheet verification</a:t>
            </a:r>
            <a:endParaRPr lang="en-US" sz="1300" dirty="0"/>
          </a:p>
          <a:p>
            <a:pPr marL="342900" indent="-342900">
              <a:spcAft>
                <a:spcPts val="800"/>
              </a:spcAft>
              <a:buSzPct val="100000"/>
              <a:buChar char="•"/>
            </a:pPr>
            <a:r>
              <a:rPr lang="en-US" sz="1300" dirty="0">
                <a:solidFill>
                  <a:schemeClr val="tx2"/>
                </a:solidFill>
              </a:rPr>
              <a:t>Employer checks during recruitment</a:t>
            </a:r>
            <a:endParaRPr lang="en-US" sz="1300" dirty="0"/>
          </a:p>
          <a:p>
            <a:pPr marL="342900" indent="-342900">
              <a:spcAft>
                <a:spcPts val="800"/>
              </a:spcAft>
              <a:buSzPct val="100000"/>
              <a:buChar char="•"/>
            </a:pPr>
            <a:r>
              <a:rPr lang="en-US" sz="1300" dirty="0">
                <a:solidFill>
                  <a:schemeClr val="tx2"/>
                </a:solidFill>
              </a:rPr>
              <a:t>Professional and training certificates</a:t>
            </a:r>
            <a:endParaRPr lang="en-US" sz="1300" dirty="0"/>
          </a:p>
        </p:txBody>
      </p:sp>
      <p:sp>
        <p:nvSpPr>
          <p:cNvPr id="8" name="Current limitations card"/>
          <p:cNvSpPr/>
          <p:nvPr/>
        </p:nvSpPr>
        <p:spPr>
          <a:xfrm>
            <a:off x="3273552" y="1051560"/>
            <a:ext cx="2596896" cy="3200400"/>
          </a:xfrm>
          <a:prstGeom prst="roundRect">
            <a:avLst>
              <a:gd name="adj" fmla="val 2817"/>
            </a:avLst>
          </a:prstGeom>
          <a:solidFill>
            <a:srgbClr val="FFFBEB"/>
          </a:solidFill>
          <a:ln w="12700">
            <a:solidFill>
              <a:srgbClr val="FFFBEB"/>
            </a:solidFill>
            <a:prstDash val="solid"/>
          </a:ln>
        </p:spPr>
      </p:sp>
      <p:sp>
        <p:nvSpPr>
          <p:cNvPr id="9" name="Current limitations circle"/>
          <p:cNvSpPr/>
          <p:nvPr/>
        </p:nvSpPr>
        <p:spPr>
          <a:xfrm>
            <a:off x="3456432" y="1207008"/>
            <a:ext cx="502920" cy="502920"/>
          </a:xfrm>
          <a:prstGeom prst="ellipse">
            <a:avLst/>
          </a:prstGeom>
          <a:solidFill>
            <a:schemeClr val="accent4"/>
          </a:solidFill>
          <a:ln w="12700">
            <a:solidFill>
              <a:schemeClr val="accent4"/>
            </a:solidFill>
            <a:prstDash val="solid"/>
          </a:ln>
        </p:spPr>
      </p:sp>
      <p:pic>
        <p:nvPicPr>
          <p:cNvPr id="10" name="Current limitations icon" descr="preencoded.png">    </p:cNvPr>
          <p:cNvPicPr>
            <a:picLocks noChangeAspect="1"/>
          </p:cNvPicPr>
          <p:nvPr/>
        </p:nvPicPr>
        <p:blipFill>
          <a:blip r:embed="rId2"/>
          <a:stretch>
            <a:fillRect/>
          </a:stretch>
        </p:blipFill>
        <p:spPr>
          <a:xfrm>
            <a:off x="3582162" y="1332738"/>
            <a:ext cx="251460" cy="251460"/>
          </a:xfrm>
          <a:prstGeom prst="rect">
            <a:avLst/>
          </a:prstGeom>
        </p:spPr>
      </p:pic>
      <p:sp>
        <p:nvSpPr>
          <p:cNvPr id="11" name="Text 7"/>
          <p:cNvSpPr txBox="1"/>
          <p:nvPr/>
        </p:nvSpPr>
        <p:spPr>
          <a:xfrm>
            <a:off x="4078224" y="1207008"/>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Current limitations</a:t>
            </a:r>
            <a:endParaRPr lang="en-US" sz="1600" dirty="0"/>
          </a:p>
        </p:txBody>
      </p:sp>
      <p:sp>
        <p:nvSpPr>
          <p:cNvPr id="12" name="Text 8"/>
          <p:cNvSpPr txBox="1"/>
          <p:nvPr/>
        </p:nvSpPr>
        <p:spPr>
          <a:xfrm>
            <a:off x="3456432" y="1874520"/>
            <a:ext cx="2286000"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Demo runs on local Anvil, not a public blockchain</a:t>
            </a:r>
            <a:endParaRPr lang="en-US" sz="1300" dirty="0"/>
          </a:p>
          <a:p>
            <a:pPr marL="342900" indent="-342900">
              <a:spcAft>
                <a:spcPts val="800"/>
              </a:spcAft>
              <a:buSzPct val="100000"/>
              <a:buChar char="•"/>
            </a:pPr>
            <a:r>
              <a:rPr lang="en-US" sz="1300" dirty="0">
                <a:solidFill>
                  <a:schemeClr val="tx2"/>
                </a:solidFill>
              </a:rPr>
              <a:t>Local chain state resets when Anvil stops</a:t>
            </a:r>
            <a:endParaRPr lang="en-US" sz="1300" dirty="0"/>
          </a:p>
          <a:p>
            <a:pPr marL="342900" indent="-342900">
              <a:spcAft>
                <a:spcPts val="800"/>
              </a:spcAft>
              <a:buSzPct val="100000"/>
              <a:buChar char="•"/>
            </a:pPr>
            <a:r>
              <a:rPr lang="en-US" sz="1300" dirty="0">
                <a:solidFill>
                  <a:schemeClr val="tx2"/>
                </a:solidFill>
              </a:rPr>
              <a:t>Production needs secure hosting, onboarding, monitoring and privacy policies</a:t>
            </a:r>
            <a:endParaRPr lang="en-US" sz="1300" dirty="0"/>
          </a:p>
        </p:txBody>
      </p:sp>
      <p:sp>
        <p:nvSpPr>
          <p:cNvPr id="13" name="Future scope card"/>
          <p:cNvSpPr/>
          <p:nvPr/>
        </p:nvSpPr>
        <p:spPr>
          <a:xfrm>
            <a:off x="6089904" y="1051560"/>
            <a:ext cx="2596896" cy="3200400"/>
          </a:xfrm>
          <a:prstGeom prst="roundRect">
            <a:avLst>
              <a:gd name="adj" fmla="val 2817"/>
            </a:avLst>
          </a:prstGeom>
          <a:solidFill>
            <a:schemeClr val="bg2"/>
          </a:solidFill>
          <a:ln w="12700">
            <a:solidFill>
              <a:schemeClr val="bg2"/>
            </a:solidFill>
            <a:prstDash val="solid"/>
          </a:ln>
        </p:spPr>
      </p:sp>
      <p:sp>
        <p:nvSpPr>
          <p:cNvPr id="14" name="Future scope circle"/>
          <p:cNvSpPr/>
          <p:nvPr/>
        </p:nvSpPr>
        <p:spPr>
          <a:xfrm>
            <a:off x="6272784" y="1207008"/>
            <a:ext cx="502920" cy="502920"/>
          </a:xfrm>
          <a:prstGeom prst="ellipse">
            <a:avLst/>
          </a:prstGeom>
          <a:solidFill>
            <a:schemeClr val="accent2"/>
          </a:solidFill>
          <a:ln w="12700">
            <a:solidFill>
              <a:schemeClr val="accent2"/>
            </a:solidFill>
            <a:prstDash val="solid"/>
          </a:ln>
        </p:spPr>
      </p:sp>
      <p:pic>
        <p:nvPicPr>
          <p:cNvPr id="15" name="Future scope icon" descr="preencoded.png">    </p:cNvPr>
          <p:cNvPicPr>
            <a:picLocks noChangeAspect="1"/>
          </p:cNvPicPr>
          <p:nvPr/>
        </p:nvPicPr>
        <p:blipFill>
          <a:blip r:embed="rId3"/>
          <a:stretch>
            <a:fillRect/>
          </a:stretch>
        </p:blipFill>
        <p:spPr>
          <a:xfrm>
            <a:off x="6398514" y="1332738"/>
            <a:ext cx="251460" cy="251460"/>
          </a:xfrm>
          <a:prstGeom prst="rect">
            <a:avLst/>
          </a:prstGeom>
        </p:spPr>
      </p:pic>
      <p:sp>
        <p:nvSpPr>
          <p:cNvPr id="16" name="Text 11"/>
          <p:cNvSpPr txBox="1"/>
          <p:nvPr/>
        </p:nvSpPr>
        <p:spPr>
          <a:xfrm>
            <a:off x="6894576" y="1207008"/>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Future scope</a:t>
            </a:r>
            <a:endParaRPr lang="en-US" sz="1600" dirty="0"/>
          </a:p>
        </p:txBody>
      </p:sp>
      <p:sp>
        <p:nvSpPr>
          <p:cNvPr id="17" name="Text 12"/>
          <p:cNvSpPr txBox="1"/>
          <p:nvPr/>
        </p:nvSpPr>
        <p:spPr>
          <a:xfrm>
            <a:off x="6272784" y="1874520"/>
            <a:ext cx="2286000"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Deploy to a public testnet</a:t>
            </a:r>
            <a:endParaRPr lang="en-US" sz="1300" dirty="0"/>
          </a:p>
          <a:p>
            <a:pPr marL="342900" indent="-342900">
              <a:spcAft>
                <a:spcPts val="800"/>
              </a:spcAft>
              <a:buSzPct val="100000"/>
              <a:buChar char="•"/>
            </a:pPr>
            <a:r>
              <a:rPr lang="en-US" sz="1300" dirty="0">
                <a:solidFill>
                  <a:schemeClr val="tx2"/>
                </a:solidFill>
              </a:rPr>
              <a:t>Secure hosting and a managed database</a:t>
            </a:r>
            <a:endParaRPr lang="en-US" sz="1300" dirty="0"/>
          </a:p>
          <a:p>
            <a:pPr marL="342900" indent="-342900">
              <a:spcAft>
                <a:spcPts val="800"/>
              </a:spcAft>
              <a:buSzPct val="100000"/>
              <a:buChar char="•"/>
            </a:pPr>
            <a:r>
              <a:rPr lang="en-US" sz="1300" dirty="0">
                <a:solidFill>
                  <a:schemeClr val="tx2"/>
                </a:solidFill>
              </a:rPr>
              <a:t>Institution onboarding and production hardening</a:t>
            </a:r>
            <a:endParaRPr lang="en-US" sz="1300" dirty="0"/>
          </a:p>
        </p:txBody>
      </p:sp>
      <p:sp>
        <p:nvSpPr>
          <p:cNvPr id="18" name="Implemented note"/>
          <p:cNvSpPr/>
          <p:nvPr/>
        </p:nvSpPr>
        <p:spPr>
          <a:xfrm>
            <a:off x="457200" y="4343400"/>
            <a:ext cx="8229600" cy="347472"/>
          </a:xfrm>
          <a:prstGeom prst="roundRect">
            <a:avLst>
              <a:gd name="adj" fmla="val 21053"/>
            </a:avLst>
          </a:prstGeom>
          <a:solidFill>
            <a:srgbClr val="E6FFFA"/>
          </a:solidFill>
          <a:ln w="12700">
            <a:solidFill>
              <a:schemeClr val="accent1"/>
            </a:solidFill>
            <a:prstDash val="solid"/>
          </a:ln>
        </p:spPr>
      </p:sp>
      <p:sp>
        <p:nvSpPr>
          <p:cNvPr id="19" name="Text 14"/>
          <p:cNvSpPr txBox="1"/>
          <p:nvPr/>
        </p:nvSpPr>
        <p:spPr>
          <a:xfrm>
            <a:off x="594360" y="4343400"/>
            <a:ext cx="8001000" cy="347472"/>
          </a:xfrm>
          <a:prstGeom prst="rect">
            <a:avLst/>
          </a:prstGeom>
          <a:noFill/>
          <a:ln/>
        </p:spPr>
        <p:txBody>
          <a:bodyPr wrap="square" lIns="0" tIns="0" rIns="0" bIns="0" rtlCol="0" anchor="ctr"/>
          <a:lstStyle/>
          <a:p>
            <a:pPr indent="0" marL="0">
              <a:buNone/>
            </a:pPr>
            <a:r>
              <a:rPr lang="en-US" sz="1200" b="1" dirty="0">
                <a:solidFill>
                  <a:schemeClr val="tx1"/>
                </a:solidFill>
              </a:rPr>
              <a:t>Implemented today: </a:t>
            </a:r>
            <a:pPr indent="0" marL="0">
              <a:buNone/>
            </a:pPr>
            <a:r>
              <a:rPr lang="en-US" sz="1200" dirty="0">
                <a:solidFill>
                  <a:schemeClr val="tx2"/>
                </a:solidFill>
              </a:rPr>
              <a:t>contract, backend, frontend, SIWE login, issuance, verification, revocation, batch issuance and tests.</a:t>
            </a:r>
            <a:endParaRPr lang="en-US" sz="12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640080"/>
          </a:xfrm>
          <a:prstGeom prst="rect">
            <a:avLst/>
          </a:prstGeom>
          <a:noFill/>
          <a:ln/>
        </p:spPr>
        <p:txBody>
          <a:bodyPr wrap="square" lIns="0" tIns="0" rIns="0" bIns="0" rtlCol="0" anchor="ctr"/>
          <a:lstStyle/>
          <a:p>
            <a:pPr algn="l" indent="0" marL="0">
              <a:buNone/>
            </a:pPr>
            <a:r>
              <a:rPr lang="en-US" sz="3200" b="1" dirty="0">
                <a:solidFill>
                  <a:schemeClr val="bg1"/>
                </a:solidFill>
              </a:rPr>
              <a:t>Conclusion</a:t>
            </a:r>
            <a:endParaRPr lang="en-US" sz="3200" dirty="0"/>
          </a:p>
        </p:txBody>
      </p:sp>
      <p:sp>
        <p:nvSpPr>
          <p:cNvPr id="3" name="Conclusion 1 circle"/>
          <p:cNvSpPr/>
          <p:nvPr/>
        </p:nvSpPr>
        <p:spPr>
          <a:xfrm>
            <a:off x="548640" y="1188720"/>
            <a:ext cx="548640" cy="548640"/>
          </a:xfrm>
          <a:prstGeom prst="ellipse">
            <a:avLst/>
          </a:prstGeom>
          <a:solidFill>
            <a:schemeClr val="accent1"/>
          </a:solidFill>
          <a:ln w="12700">
            <a:solidFill>
              <a:schemeClr val="accent1"/>
            </a:solidFill>
            <a:prstDash val="solid"/>
          </a:ln>
        </p:spPr>
      </p:sp>
      <p:pic>
        <p:nvPicPr>
          <p:cNvPr id="4" name="Conclusion 1 icon" descr="preencoded.png">    </p:cNvPr>
          <p:cNvPicPr>
            <a:picLocks noChangeAspect="1"/>
          </p:cNvPicPr>
          <p:nvPr/>
        </p:nvPicPr>
        <p:blipFill>
          <a:blip r:embed="rId1"/>
          <a:stretch>
            <a:fillRect/>
          </a:stretch>
        </p:blipFill>
        <p:spPr>
          <a:xfrm>
            <a:off x="685800" y="1325880"/>
            <a:ext cx="274320" cy="274320"/>
          </a:xfrm>
          <a:prstGeom prst="rect">
            <a:avLst/>
          </a:prstGeom>
        </p:spPr>
      </p:pic>
      <p:sp>
        <p:nvSpPr>
          <p:cNvPr id="5" name="Text 2"/>
          <p:cNvSpPr txBox="1"/>
          <p:nvPr/>
        </p:nvSpPr>
        <p:spPr>
          <a:xfrm>
            <a:off x="548640" y="1847088"/>
            <a:ext cx="2468880" cy="292608"/>
          </a:xfrm>
          <a:prstGeom prst="rect">
            <a:avLst/>
          </a:prstGeom>
          <a:noFill/>
          <a:ln/>
        </p:spPr>
        <p:txBody>
          <a:bodyPr wrap="square" lIns="0" tIns="0" rIns="0" bIns="0" rtlCol="0" anchor="t"/>
          <a:lstStyle/>
          <a:p>
            <a:pPr indent="0" marL="0">
              <a:buNone/>
            </a:pPr>
            <a:r>
              <a:rPr lang="en-US" sz="1600" b="1" dirty="0">
                <a:solidFill>
                  <a:schemeClr val="bg1"/>
                </a:solidFill>
              </a:rPr>
              <a:t>Tamper detection</a:t>
            </a:r>
            <a:endParaRPr lang="en-US" sz="1600" dirty="0"/>
          </a:p>
        </p:txBody>
      </p:sp>
      <p:sp>
        <p:nvSpPr>
          <p:cNvPr id="6" name="Text 3"/>
          <p:cNvSpPr txBox="1"/>
          <p:nvPr/>
        </p:nvSpPr>
        <p:spPr>
          <a:xfrm>
            <a:off x="548640" y="2157984"/>
            <a:ext cx="2468880" cy="594360"/>
          </a:xfrm>
          <a:prstGeom prst="rect">
            <a:avLst/>
          </a:prstGeom>
          <a:noFill/>
          <a:ln/>
        </p:spPr>
        <p:txBody>
          <a:bodyPr wrap="square" lIns="0" tIns="0" rIns="0" bIns="0" rtlCol="0" anchor="t"/>
          <a:lstStyle/>
          <a:p>
            <a:pPr indent="0" marL="0">
              <a:buNone/>
            </a:pPr>
            <a:r>
              <a:rPr lang="en-US" sz="1300" dirty="0">
                <a:solidFill>
                  <a:srgbClr val="CBD5E1"/>
                </a:solidFill>
              </a:rPr>
              <a:t>SHA-256 fingerprints expose any change to a PDF</a:t>
            </a:r>
            <a:endParaRPr lang="en-US" sz="1300" dirty="0"/>
          </a:p>
        </p:txBody>
      </p:sp>
      <p:sp>
        <p:nvSpPr>
          <p:cNvPr id="7" name="Conclusion 2 circle"/>
          <p:cNvSpPr/>
          <p:nvPr/>
        </p:nvSpPr>
        <p:spPr>
          <a:xfrm>
            <a:off x="3291840" y="1188720"/>
            <a:ext cx="548640" cy="548640"/>
          </a:xfrm>
          <a:prstGeom prst="ellipse">
            <a:avLst/>
          </a:prstGeom>
          <a:solidFill>
            <a:schemeClr val="accent1"/>
          </a:solidFill>
          <a:ln w="12700">
            <a:solidFill>
              <a:schemeClr val="accent1"/>
            </a:solidFill>
            <a:prstDash val="solid"/>
          </a:ln>
        </p:spPr>
      </p:sp>
      <p:pic>
        <p:nvPicPr>
          <p:cNvPr id="8" name="Conclusion 2 icon" descr="preencoded.png">    </p:cNvPr>
          <p:cNvPicPr>
            <a:picLocks noChangeAspect="1"/>
          </p:cNvPicPr>
          <p:nvPr/>
        </p:nvPicPr>
        <p:blipFill>
          <a:blip r:embed="rId2"/>
          <a:stretch>
            <a:fillRect/>
          </a:stretch>
        </p:blipFill>
        <p:spPr>
          <a:xfrm>
            <a:off x="3429000" y="1325880"/>
            <a:ext cx="274320" cy="274320"/>
          </a:xfrm>
          <a:prstGeom prst="rect">
            <a:avLst/>
          </a:prstGeom>
        </p:spPr>
      </p:pic>
      <p:sp>
        <p:nvSpPr>
          <p:cNvPr id="9" name="Text 5"/>
          <p:cNvSpPr txBox="1"/>
          <p:nvPr/>
        </p:nvSpPr>
        <p:spPr>
          <a:xfrm>
            <a:off x="3291840" y="1847088"/>
            <a:ext cx="2468880" cy="292608"/>
          </a:xfrm>
          <a:prstGeom prst="rect">
            <a:avLst/>
          </a:prstGeom>
          <a:noFill/>
          <a:ln/>
        </p:spPr>
        <p:txBody>
          <a:bodyPr wrap="square" lIns="0" tIns="0" rIns="0" bIns="0" rtlCol="0" anchor="t"/>
          <a:lstStyle/>
          <a:p>
            <a:pPr indent="0" marL="0">
              <a:buNone/>
            </a:pPr>
            <a:r>
              <a:rPr lang="en-US" sz="1600" b="1" dirty="0">
                <a:solidFill>
                  <a:schemeClr val="bg1"/>
                </a:solidFill>
              </a:rPr>
              <a:t>Trusted status</a:t>
            </a:r>
            <a:endParaRPr lang="en-US" sz="1600" dirty="0"/>
          </a:p>
        </p:txBody>
      </p:sp>
      <p:sp>
        <p:nvSpPr>
          <p:cNvPr id="10" name="Text 6"/>
          <p:cNvSpPr txBox="1"/>
          <p:nvPr/>
        </p:nvSpPr>
        <p:spPr>
          <a:xfrm>
            <a:off x="3291840" y="2157984"/>
            <a:ext cx="2468880" cy="594360"/>
          </a:xfrm>
          <a:prstGeom prst="rect">
            <a:avLst/>
          </a:prstGeom>
          <a:noFill/>
          <a:ln/>
        </p:spPr>
        <p:txBody>
          <a:bodyPr wrap="square" lIns="0" tIns="0" rIns="0" bIns="0" rtlCol="0" anchor="t"/>
          <a:lstStyle/>
          <a:p>
            <a:pPr indent="0" marL="0">
              <a:buNone/>
            </a:pPr>
            <a:r>
              <a:rPr lang="en-US" sz="1300" dirty="0">
                <a:solidFill>
                  <a:srgbClr val="CBD5E1"/>
                </a:solidFill>
              </a:rPr>
              <a:t>The blockchain records who issued it and whether it is revoked</a:t>
            </a:r>
            <a:endParaRPr lang="en-US" sz="1300" dirty="0"/>
          </a:p>
        </p:txBody>
      </p:sp>
      <p:sp>
        <p:nvSpPr>
          <p:cNvPr id="11" name="Conclusion 3 circle"/>
          <p:cNvSpPr/>
          <p:nvPr/>
        </p:nvSpPr>
        <p:spPr>
          <a:xfrm>
            <a:off x="6035040" y="1188720"/>
            <a:ext cx="548640" cy="548640"/>
          </a:xfrm>
          <a:prstGeom prst="ellipse">
            <a:avLst/>
          </a:prstGeom>
          <a:solidFill>
            <a:schemeClr val="accent1"/>
          </a:solidFill>
          <a:ln w="12700">
            <a:solidFill>
              <a:schemeClr val="accent1"/>
            </a:solidFill>
            <a:prstDash val="solid"/>
          </a:ln>
        </p:spPr>
      </p:sp>
      <p:pic>
        <p:nvPicPr>
          <p:cNvPr id="12" name="Conclusion 3 icon" descr="preencoded.png">    </p:cNvPr>
          <p:cNvPicPr>
            <a:picLocks noChangeAspect="1"/>
          </p:cNvPicPr>
          <p:nvPr/>
        </p:nvPicPr>
        <p:blipFill>
          <a:blip r:embed="rId3"/>
          <a:stretch>
            <a:fillRect/>
          </a:stretch>
        </p:blipFill>
        <p:spPr>
          <a:xfrm>
            <a:off x="6172200" y="1325880"/>
            <a:ext cx="274320" cy="274320"/>
          </a:xfrm>
          <a:prstGeom prst="rect">
            <a:avLst/>
          </a:prstGeom>
        </p:spPr>
      </p:pic>
      <p:sp>
        <p:nvSpPr>
          <p:cNvPr id="13" name="Text 8"/>
          <p:cNvSpPr txBox="1"/>
          <p:nvPr/>
        </p:nvSpPr>
        <p:spPr>
          <a:xfrm>
            <a:off x="6035040" y="1847088"/>
            <a:ext cx="2468880" cy="292608"/>
          </a:xfrm>
          <a:prstGeom prst="rect">
            <a:avLst/>
          </a:prstGeom>
          <a:noFill/>
          <a:ln/>
        </p:spPr>
        <p:txBody>
          <a:bodyPr wrap="square" lIns="0" tIns="0" rIns="0" bIns="0" rtlCol="0" anchor="t"/>
          <a:lstStyle/>
          <a:p>
            <a:pPr indent="0" marL="0">
              <a:buNone/>
            </a:pPr>
            <a:r>
              <a:rPr lang="en-US" sz="1600" b="1" dirty="0">
                <a:solidFill>
                  <a:schemeClr val="bg1"/>
                </a:solidFill>
              </a:rPr>
              <a:t>User-controlled</a:t>
            </a:r>
            <a:endParaRPr lang="en-US" sz="1600" dirty="0"/>
          </a:p>
        </p:txBody>
      </p:sp>
      <p:sp>
        <p:nvSpPr>
          <p:cNvPr id="14" name="Text 9"/>
          <p:cNvSpPr txBox="1"/>
          <p:nvPr/>
        </p:nvSpPr>
        <p:spPr>
          <a:xfrm>
            <a:off x="6035040" y="2157984"/>
            <a:ext cx="2468880" cy="594360"/>
          </a:xfrm>
          <a:prstGeom prst="rect">
            <a:avLst/>
          </a:prstGeom>
          <a:noFill/>
          <a:ln/>
        </p:spPr>
        <p:txBody>
          <a:bodyPr wrap="square" lIns="0" tIns="0" rIns="0" bIns="0" rtlCol="0" anchor="t"/>
          <a:lstStyle/>
          <a:p>
            <a:pPr indent="0" marL="0">
              <a:buNone/>
            </a:pPr>
            <a:r>
              <a:rPr lang="en-US" sz="1300" dirty="0">
                <a:solidFill>
                  <a:srgbClr val="CBD5E1"/>
                </a:solidFill>
              </a:rPr>
              <a:t>Only authorized issuers' own wallets sign transactions</a:t>
            </a:r>
            <a:endParaRPr lang="en-US" sz="1300" dirty="0"/>
          </a:p>
        </p:txBody>
      </p:sp>
      <p:sp>
        <p:nvSpPr>
          <p:cNvPr id="15" name="Text 10"/>
          <p:cNvSpPr txBox="1"/>
          <p:nvPr/>
        </p:nvSpPr>
        <p:spPr>
          <a:xfrm>
            <a:off x="548640" y="2926080"/>
            <a:ext cx="8046720" cy="685800"/>
          </a:xfrm>
          <a:prstGeom prst="rect">
            <a:avLst/>
          </a:prstGeom>
          <a:noFill/>
          <a:ln/>
        </p:spPr>
        <p:txBody>
          <a:bodyPr wrap="square" lIns="0" tIns="0" rIns="0" bIns="0" rtlCol="0" anchor="t"/>
          <a:lstStyle/>
          <a:p>
            <a:pPr indent="0" marL="0">
              <a:buNone/>
            </a:pPr>
            <a:r>
              <a:rPr lang="en-US" sz="1600" i="1" dirty="0">
                <a:solidFill>
                  <a:schemeClr val="accent6"/>
                </a:solidFill>
              </a:rPr>
              <a:t>Key contribution: anyone can check, in seconds, whether a certificate PDF is genuine, unchanged and still valid — without contacting the university.</a:t>
            </a:r>
            <a:endParaRPr lang="en-US" sz="1600" dirty="0"/>
          </a:p>
        </p:txBody>
      </p:sp>
      <p:sp>
        <p:nvSpPr>
          <p:cNvPr id="16" name="Questions circle"/>
          <p:cNvSpPr/>
          <p:nvPr/>
        </p:nvSpPr>
        <p:spPr>
          <a:xfrm>
            <a:off x="548640" y="3886200"/>
            <a:ext cx="548640" cy="548640"/>
          </a:xfrm>
          <a:prstGeom prst="ellipse">
            <a:avLst/>
          </a:prstGeom>
          <a:solidFill>
            <a:schemeClr val="accent2"/>
          </a:solidFill>
          <a:ln w="12700">
            <a:solidFill>
              <a:schemeClr val="accent2"/>
            </a:solidFill>
            <a:prstDash val="solid"/>
          </a:ln>
        </p:spPr>
      </p:sp>
      <p:pic>
        <p:nvPicPr>
          <p:cNvPr id="17" name="Questions icon" descr="preencoded.png">    </p:cNvPr>
          <p:cNvPicPr>
            <a:picLocks noChangeAspect="1"/>
          </p:cNvPicPr>
          <p:nvPr/>
        </p:nvPicPr>
        <p:blipFill>
          <a:blip r:embed="rId4"/>
          <a:stretch>
            <a:fillRect/>
          </a:stretch>
        </p:blipFill>
        <p:spPr>
          <a:xfrm>
            <a:off x="685800" y="4023360"/>
            <a:ext cx="274320" cy="274320"/>
          </a:xfrm>
          <a:prstGeom prst="rect">
            <a:avLst/>
          </a:prstGeom>
        </p:spPr>
      </p:pic>
      <p:sp>
        <p:nvSpPr>
          <p:cNvPr id="18" name="Text 12"/>
          <p:cNvSpPr txBox="1"/>
          <p:nvPr/>
        </p:nvSpPr>
        <p:spPr>
          <a:xfrm>
            <a:off x="1234440" y="3840480"/>
            <a:ext cx="6400800" cy="640080"/>
          </a:xfrm>
          <a:prstGeom prst="rect">
            <a:avLst/>
          </a:prstGeom>
          <a:noFill/>
          <a:ln/>
        </p:spPr>
        <p:txBody>
          <a:bodyPr wrap="square" lIns="0" tIns="0" rIns="0" bIns="0" rtlCol="0" anchor="ctr"/>
          <a:lstStyle/>
          <a:p>
            <a:pPr indent="0" marL="0">
              <a:buNone/>
            </a:pPr>
            <a:r>
              <a:rPr lang="en-US" sz="3000" b="1" dirty="0">
                <a:solidFill>
                  <a:schemeClr val="bg1"/>
                </a:solidFill>
              </a:rPr>
              <a:t>Thank You — Questions?</a:t>
            </a:r>
            <a:endParaRPr lang="en-US" sz="3000" dirty="0"/>
          </a:p>
        </p:txBody>
      </p:sp>
      <p:sp>
        <p:nvSpPr>
          <p:cNvPr id="25" name="Slide Number Placeholder 0"/>
          <p:cNvSpPr>
            <a:spLocks noGrp="1"/>
          </p:cNvSpPr>
          <p:nvPr>
            <p:ph type="sldNum" sz="quarter" idx="4294967295"/>
          </p:nvPr>
        </p:nvSpPr>
        <p:spPr>
          <a:xfrm>
            <a:off x="8229600" y="4791456"/>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ertiVerify">
  <a:themeElements>
    <a:clrScheme name="CertiVerify">
      <a:dk1>
        <a:srgbClr val="0B1F3A"/>
      </a:dk1>
      <a:lt1>
        <a:srgbClr val="FFFFFF"/>
      </a:lt1>
      <a:dk2>
        <a:srgbClr val="334155"/>
      </a:dk2>
      <a:lt2>
        <a:srgbClr val="F1F5F9"/>
      </a:lt2>
      <a:accent1>
        <a:srgbClr val="0D9488"/>
      </a:accent1>
      <a:accent2>
        <a:srgbClr val="16335C"/>
      </a:accent2>
      <a:accent3>
        <a:srgbClr val="15803D"/>
      </a:accent3>
      <a:accent4>
        <a:srgbClr val="B45309"/>
      </a:accent4>
      <a:accent5>
        <a:srgbClr val="B91C1C"/>
      </a:accent5>
      <a:accent6>
        <a:srgbClr val="5EEAD4"/>
      </a:accent6>
      <a:hlink>
        <a:srgbClr val="0D9488"/>
      </a:hlink>
      <a:folHlink>
        <a:srgbClr val="16335C"/>
      </a:folHlink>
    </a:clrScheme>
    <a:fontScheme name="CertiVerif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IIIT Lucknow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CertiVerify — Blockchain-Based Certificate Verification</dc:title>
  <dc:subject>PptxGenJS Presentation</dc:subject>
  <dc:creator>Prakash Kumar</dc:creator>
  <cp:lastModifiedBy>Prakash Kumar</cp:lastModifiedBy>
  <cp:revision>1</cp:revision>
  <dcterms:created xsi:type="dcterms:W3CDTF">2026-10-12T13:56:09Z</dcterms:created>
  <dcterms:modified xsi:type="dcterms:W3CDTF">2026-10-12T13:56:09Z</dcterms:modified>
</cp:coreProperties>
</file>